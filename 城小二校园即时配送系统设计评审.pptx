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9" r:id="rId7"/>
    <p:sldId id="260" r:id="rId8"/>
    <p:sldId id="261" r:id="rId9"/>
    <p:sldId id="263" r:id="rId10"/>
    <p:sldId id="264" r:id="rId11"/>
    <p:sldId id="265" r:id="rId12"/>
    <p:sldId id="277" r:id="rId13"/>
    <p:sldId id="266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68" r:id="rId24"/>
    <p:sldId id="301" r:id="rId25"/>
    <p:sldId id="272" r:id="rId26"/>
    <p:sldId id="269" r:id="rId27"/>
    <p:sldId id="299" r:id="rId28"/>
    <p:sldId id="300" r:id="rId29"/>
    <p:sldId id="270" r:id="rId30"/>
    <p:sldId id="271" r:id="rId31"/>
    <p:sldId id="295" r:id="rId32"/>
    <p:sldId id="292" r:id="rId33"/>
    <p:sldId id="293" r:id="rId34"/>
    <p:sldId id="294" r:id="rId35"/>
    <p:sldId id="275" r:id="rId36"/>
    <p:sldId id="302" r:id="rId37"/>
    <p:sldId id="276" r:id="rId38"/>
  </p:sldIdLst>
  <p:sldSz cx="12192000" cy="6858000"/>
  <p:notesSz cx="6858000" cy="12192000"/>
  <p:embeddedFontLst>
    <p:embeddedFont>
      <p:font typeface="MiSans" pitchFamily="34" charset="-122"/>
      <p:regular r:id="rId42"/>
    </p:embeddedFont>
    <p:embeddedFont>
      <p:font typeface="MiSans" pitchFamily="34" charset="-120"/>
      <p:regular r:id="rId43"/>
    </p:embeddedFont>
    <p:embeddedFont>
      <p:font typeface="Calibri" panose="020F0502020204030204" charset="0"/>
      <p:regular r:id="rId44"/>
      <p:bold r:id="rId45"/>
      <p:italic r:id="rId46"/>
      <p:boldItalic r:id="rId47"/>
    </p:embeddedFont>
    <p:embeddedFont>
      <p:font typeface="等线" panose="02010600030101010101" charset="-122"/>
      <p:regular r:id="rId4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8" Type="http://schemas.openxmlformats.org/officeDocument/2006/relationships/font" Target="fonts/font7.fntdata"/><Relationship Id="rId47" Type="http://schemas.openxmlformats.org/officeDocument/2006/relationships/font" Target="fonts/font6.fntdata"/><Relationship Id="rId46" Type="http://schemas.openxmlformats.org/officeDocument/2006/relationships/font" Target="fonts/font5.fntdata"/><Relationship Id="rId45" Type="http://schemas.openxmlformats.org/officeDocument/2006/relationships/font" Target="fonts/font4.fntdata"/><Relationship Id="rId44" Type="http://schemas.openxmlformats.org/officeDocument/2006/relationships/font" Target="fonts/font3.fntdata"/><Relationship Id="rId43" Type="http://schemas.openxmlformats.org/officeDocument/2006/relationships/font" Target="fonts/font2.fntdata"/><Relationship Id="rId42" Type="http://schemas.openxmlformats.org/officeDocument/2006/relationships/font" Target="fonts/font1.fntdata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1.xml"/><Relationship Id="rId39" Type="http://schemas.openxmlformats.org/officeDocument/2006/relationships/presProps" Target="presProps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tags" Target="../tags/tag3.xml"/><Relationship Id="rId7" Type="http://schemas.openxmlformats.org/officeDocument/2006/relationships/image" Target="../media/image7.png"/><Relationship Id="rId6" Type="http://schemas.openxmlformats.org/officeDocument/2006/relationships/tags" Target="../tags/tag2.xml"/><Relationship Id="rId5" Type="http://schemas.openxmlformats.org/officeDocument/2006/relationships/image" Target="../media/image6.png"/><Relationship Id="rId4" Type="http://schemas.openxmlformats.org/officeDocument/2006/relationships/tags" Target="../tags/tag1.xml"/><Relationship Id="rId30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23.xml"/><Relationship Id="rId27" Type="http://schemas.openxmlformats.org/officeDocument/2006/relationships/tags" Target="../tags/tag22.xml"/><Relationship Id="rId26" Type="http://schemas.openxmlformats.org/officeDocument/2006/relationships/tags" Target="../tags/tag21.xml"/><Relationship Id="rId25" Type="http://schemas.openxmlformats.org/officeDocument/2006/relationships/tags" Target="../tags/tag20.xml"/><Relationship Id="rId24" Type="http://schemas.openxmlformats.org/officeDocument/2006/relationships/tags" Target="../tags/tag19.xml"/><Relationship Id="rId23" Type="http://schemas.openxmlformats.org/officeDocument/2006/relationships/tags" Target="../tags/tag18.xml"/><Relationship Id="rId22" Type="http://schemas.openxmlformats.org/officeDocument/2006/relationships/tags" Target="../tags/tag17.xml"/><Relationship Id="rId21" Type="http://schemas.openxmlformats.org/officeDocument/2006/relationships/tags" Target="../tags/tag16.xml"/><Relationship Id="rId20" Type="http://schemas.openxmlformats.org/officeDocument/2006/relationships/tags" Target="../tags/tag15.xml"/><Relationship Id="rId2" Type="http://schemas.openxmlformats.org/officeDocument/2006/relationships/image" Target="../media/image4.png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png"/><Relationship Id="rId3" Type="http://schemas.openxmlformats.org/officeDocument/2006/relationships/image" Target="../media/image4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12.jpeg"/><Relationship Id="rId1" Type="http://schemas.openxmlformats.org/officeDocument/2006/relationships/image" Target="../media/image14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42.png"/><Relationship Id="rId1" Type="http://schemas.openxmlformats.org/officeDocument/2006/relationships/image" Target="../media/image41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02815" y="1875155"/>
            <a:ext cx="7943850" cy="22745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城小二校园即时配送系统设计</a:t>
            </a:r>
            <a:r>
              <a:rPr lang="zh-CN" alt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阶段</a:t>
            </a:r>
            <a:r>
              <a:rPr 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评审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79780" y="62706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867410" y="62706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55675" y="616648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43940" y="62706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131570" y="62706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6" name="Image 0" descr="https://kimi-img.moonshot.cn/pub/slides/slides_tmpl/image/25-09-05-14:16:05-d2t809dnfo2stf9dim0g.png"/>
          <p:cNvPicPr>
            <a:picLocks noChangeAspect="1"/>
          </p:cNvPicPr>
          <p:nvPr/>
        </p:nvPicPr>
        <p:blipFill>
          <a:blip r:embed="rId1"/>
          <a:srcRect l="57" r="57"/>
          <a:stretch>
            <a:fillRect/>
          </a:stretch>
        </p:blipFill>
        <p:spPr>
          <a:xfrm>
            <a:off x="3657600" y="4500245"/>
            <a:ext cx="2110105" cy="49911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903345" y="4581525"/>
            <a:ext cx="1664335" cy="337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陈鹏宇</a:t>
            </a:r>
            <a:endParaRPr lang="zh-CN" altLang="en-US" sz="16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18" name="Image 1" descr="https://kimi-img.moonshot.cn/pub/slides/slides_tmpl/image/25-09-05-14:16:05-d2t809dnfo2stf9dim0g.png"/>
          <p:cNvPicPr>
            <a:picLocks noChangeAspect="1"/>
          </p:cNvPicPr>
          <p:nvPr/>
        </p:nvPicPr>
        <p:blipFill>
          <a:blip r:embed="rId1"/>
          <a:srcRect l="57" r="57"/>
          <a:stretch>
            <a:fillRect/>
          </a:stretch>
        </p:blipFill>
        <p:spPr>
          <a:xfrm>
            <a:off x="5961380" y="4500245"/>
            <a:ext cx="2110105" cy="49911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043295" y="4581525"/>
            <a:ext cx="1961515" cy="337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时间：2025/11/23</a:t>
            </a:r>
            <a:endParaRPr lang="en-US" sz="1600" dirty="0"/>
          </a:p>
        </p:txBody>
      </p:sp>
      <p:pic>
        <p:nvPicPr>
          <p:cNvPr id="20" name="Image 2" descr="https://kimi-img.moonshot.cn/pub/slides/slides_tmpl/image/25-09-05-14:16:05-d2t809dnfo2stf9dim1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7545705" y="0"/>
            <a:ext cx="3954145" cy="18751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36980"/>
            <a:ext cx="1186815" cy="46926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82025" y="806688"/>
            <a:ext cx="2261870" cy="9036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pic>
        <p:nvPicPr>
          <p:cNvPr id="4" name="Image 0" descr="https://kimi-img.moonshot.cn/pub/slides/slides_tmpl/image/25-09-05-14:16:05-d2t809dnfo2stf9dim10.jpg"/>
          <p:cNvPicPr>
            <a:picLocks noChangeAspect="1"/>
          </p:cNvPicPr>
          <p:nvPr/>
        </p:nvPicPr>
        <p:blipFill>
          <a:blip r:embed="rId1">
            <a:alphaModFix amt="54000"/>
          </a:blip>
          <a:stretch>
            <a:fillRect/>
          </a:stretch>
        </p:blipFill>
        <p:spPr>
          <a:xfrm>
            <a:off x="935990" y="1819910"/>
            <a:ext cx="19050" cy="3390900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9-05-14:16:05-d2t809dnfo2stf9dim4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635" y="913130"/>
            <a:ext cx="323850" cy="3238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63600" y="6177280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951230" y="6177280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039495" y="607250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127125" y="6177280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1215390" y="6177280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pic>
        <p:nvPicPr>
          <p:cNvPr id="11" name="Image 2" descr="https://kimi-img.moonshot.cn/pub/slides/slides_tmpl/image/25-09-05-14:16:06-d2t809lnfo2stf9dim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326380" y="-3810"/>
            <a:ext cx="5916295" cy="2805430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9-05-14:16:05-d2t809dnfo2stf9dim2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172075" y="1679575"/>
            <a:ext cx="1872615" cy="1753235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9-05-14:16:05-d2t809dnfo2stf9dim20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416175" y="1679575"/>
            <a:ext cx="1882775" cy="1753870"/>
          </a:xfrm>
          <a:prstGeom prst="rect">
            <a:avLst/>
          </a:prstGeom>
        </p:spPr>
      </p:pic>
      <p:pic>
        <p:nvPicPr>
          <p:cNvPr id="14" name="Image 5" descr="https://kimi-img.moonshot.cn/pub/slides/slides_tmpl/image/25-09-05-14:16:05-d2t809dnfo2stf9dim20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968615" y="1679575"/>
            <a:ext cx="1882775" cy="1753870"/>
          </a:xfrm>
          <a:prstGeom prst="rect">
            <a:avLst/>
          </a:prstGeom>
        </p:spPr>
      </p:pic>
      <p:pic>
        <p:nvPicPr>
          <p:cNvPr id="15" name="Image 6" descr="https://kimi-img.moonshot.cn/pub/slides/slides_tmpl/image/25-09-05-14:16:05-d2t809dnfo2stf9dim2g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415540" y="3742055"/>
            <a:ext cx="1883410" cy="1753235"/>
          </a:xfrm>
          <a:prstGeom prst="rect">
            <a:avLst/>
          </a:prstGeom>
        </p:spPr>
      </p:pic>
      <p:pic>
        <p:nvPicPr>
          <p:cNvPr id="16" name="Image 7" descr="https://kimi-img.moonshot.cn/pub/slides/slides_tmpl/image/25-09-05-14:16:05-d2t809dnfo2stf9dim20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173345" y="3750945"/>
            <a:ext cx="1882775" cy="1753870"/>
          </a:xfrm>
          <a:prstGeom prst="rect">
            <a:avLst/>
          </a:prstGeom>
        </p:spPr>
      </p:pic>
      <p:pic>
        <p:nvPicPr>
          <p:cNvPr id="17" name="Image 8" descr="https://kimi-img.moonshot.cn/pub/slides/slides_tmpl/image/25-09-05-14:16:05-d2t809dnfo2stf9dim2g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971790" y="3742055"/>
            <a:ext cx="1883410" cy="1753235"/>
          </a:xfrm>
          <a:prstGeom prst="rect">
            <a:avLst/>
          </a:prstGeom>
        </p:spPr>
      </p:pic>
      <p:sp>
        <p:nvSpPr>
          <p:cNvPr id="18" name="Shape 7"/>
          <p:cNvSpPr/>
          <p:nvPr>
            <p:custDataLst>
              <p:tags r:id="rId12"/>
            </p:custDataLst>
          </p:nvPr>
        </p:nvSpPr>
        <p:spPr>
          <a:xfrm>
            <a:off x="3031327" y="1817288"/>
            <a:ext cx="652471" cy="598996"/>
          </a:xfrm>
          <a:prstGeom prst="round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9" name="Text 8"/>
          <p:cNvSpPr/>
          <p:nvPr>
            <p:custDataLst>
              <p:tags r:id="rId13"/>
            </p:custDataLst>
          </p:nvPr>
        </p:nvSpPr>
        <p:spPr>
          <a:xfrm>
            <a:off x="3031327" y="1817288"/>
            <a:ext cx="652471" cy="5989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9"/>
          <p:cNvSpPr/>
          <p:nvPr>
            <p:custDataLst>
              <p:tags r:id="rId14"/>
            </p:custDataLst>
          </p:nvPr>
        </p:nvSpPr>
        <p:spPr>
          <a:xfrm>
            <a:off x="2672715" y="2462530"/>
            <a:ext cx="1369695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项目定位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以及技术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</a:t>
            </a:r>
            <a:endParaRPr lang="zh-CN" altLang="en-US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1" name="Shape 10"/>
          <p:cNvSpPr/>
          <p:nvPr>
            <p:custDataLst>
              <p:tags r:id="rId15"/>
            </p:custDataLst>
          </p:nvPr>
        </p:nvSpPr>
        <p:spPr>
          <a:xfrm>
            <a:off x="5782147" y="1816653"/>
            <a:ext cx="652471" cy="599500"/>
          </a:xfrm>
          <a:prstGeom prst="round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2" name="Text 11"/>
          <p:cNvSpPr/>
          <p:nvPr>
            <p:custDataLst>
              <p:tags r:id="rId16"/>
            </p:custDataLst>
          </p:nvPr>
        </p:nvSpPr>
        <p:spPr>
          <a:xfrm>
            <a:off x="5782147" y="1816653"/>
            <a:ext cx="652471" cy="59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12"/>
          <p:cNvSpPr/>
          <p:nvPr>
            <p:custDataLst>
              <p:tags r:id="rId17"/>
            </p:custDataLst>
          </p:nvPr>
        </p:nvSpPr>
        <p:spPr>
          <a:xfrm>
            <a:off x="5385753" y="2462530"/>
            <a:ext cx="144526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/>
              <a:t>界面</a:t>
            </a:r>
            <a:r>
              <a:rPr lang="zh-CN" altLang="en-US" sz="1600" dirty="0"/>
              <a:t>与交互</a:t>
            </a:r>
            <a:r>
              <a:rPr lang="zh-CN" altLang="en-US" sz="1600" dirty="0"/>
              <a:t>设计</a:t>
            </a:r>
            <a:endParaRPr lang="zh-CN" altLang="en-US" sz="1600" dirty="0"/>
          </a:p>
        </p:txBody>
      </p:sp>
      <p:sp>
        <p:nvSpPr>
          <p:cNvPr id="24" name="Shape 13"/>
          <p:cNvSpPr/>
          <p:nvPr>
            <p:custDataLst>
              <p:tags r:id="rId18"/>
            </p:custDataLst>
          </p:nvPr>
        </p:nvSpPr>
        <p:spPr>
          <a:xfrm>
            <a:off x="5788497" y="3888658"/>
            <a:ext cx="652471" cy="599500"/>
          </a:xfrm>
          <a:prstGeom prst="round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5" name="Text 14"/>
          <p:cNvSpPr/>
          <p:nvPr>
            <p:custDataLst>
              <p:tags r:id="rId19"/>
            </p:custDataLst>
          </p:nvPr>
        </p:nvSpPr>
        <p:spPr>
          <a:xfrm>
            <a:off x="5788497" y="3888658"/>
            <a:ext cx="652471" cy="59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Shape 16"/>
          <p:cNvSpPr/>
          <p:nvPr>
            <p:custDataLst>
              <p:tags r:id="rId20"/>
            </p:custDataLst>
          </p:nvPr>
        </p:nvSpPr>
        <p:spPr>
          <a:xfrm>
            <a:off x="8583767" y="1817288"/>
            <a:ext cx="652471" cy="599500"/>
          </a:xfrm>
          <a:prstGeom prst="round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8" name="Text 17"/>
          <p:cNvSpPr/>
          <p:nvPr>
            <p:custDataLst>
              <p:tags r:id="rId21"/>
            </p:custDataLst>
          </p:nvPr>
        </p:nvSpPr>
        <p:spPr>
          <a:xfrm>
            <a:off x="8583767" y="1817288"/>
            <a:ext cx="652471" cy="59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18"/>
          <p:cNvSpPr/>
          <p:nvPr>
            <p:custDataLst>
              <p:tags r:id="rId22"/>
            </p:custDataLst>
          </p:nvPr>
        </p:nvSpPr>
        <p:spPr>
          <a:xfrm>
            <a:off x="8225155" y="2462530"/>
            <a:ext cx="1369695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数据库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</a:t>
            </a:r>
            <a:endParaRPr lang="en-US" sz="1600" dirty="0"/>
          </a:p>
        </p:txBody>
      </p:sp>
      <p:sp>
        <p:nvSpPr>
          <p:cNvPr id="30" name="Shape 19"/>
          <p:cNvSpPr/>
          <p:nvPr>
            <p:custDataLst>
              <p:tags r:id="rId23"/>
            </p:custDataLst>
          </p:nvPr>
        </p:nvSpPr>
        <p:spPr>
          <a:xfrm>
            <a:off x="3031327" y="3879133"/>
            <a:ext cx="652471" cy="599550"/>
          </a:xfrm>
          <a:prstGeom prst="round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31" name="Text 20"/>
          <p:cNvSpPr/>
          <p:nvPr>
            <p:custDataLst>
              <p:tags r:id="rId24"/>
            </p:custDataLst>
          </p:nvPr>
        </p:nvSpPr>
        <p:spPr>
          <a:xfrm>
            <a:off x="3031327" y="3879133"/>
            <a:ext cx="652471" cy="59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Text 21"/>
          <p:cNvSpPr/>
          <p:nvPr>
            <p:custDataLst>
              <p:tags r:id="rId25"/>
            </p:custDataLst>
          </p:nvPr>
        </p:nvSpPr>
        <p:spPr>
          <a:xfrm>
            <a:off x="2634933" y="4525010"/>
            <a:ext cx="144526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接口</a:t>
            </a: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</a:t>
            </a:r>
            <a:endParaRPr lang="en-US" sz="1600" dirty="0"/>
          </a:p>
        </p:txBody>
      </p:sp>
      <p:sp>
        <p:nvSpPr>
          <p:cNvPr id="33" name="Shape 22"/>
          <p:cNvSpPr/>
          <p:nvPr>
            <p:custDataLst>
              <p:tags r:id="rId26"/>
            </p:custDataLst>
          </p:nvPr>
        </p:nvSpPr>
        <p:spPr>
          <a:xfrm>
            <a:off x="8587260" y="3879133"/>
            <a:ext cx="652471" cy="599550"/>
          </a:xfrm>
          <a:prstGeom prst="round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34" name="Text 23"/>
          <p:cNvSpPr/>
          <p:nvPr>
            <p:custDataLst>
              <p:tags r:id="rId27"/>
            </p:custDataLst>
          </p:nvPr>
        </p:nvSpPr>
        <p:spPr>
          <a:xfrm>
            <a:off x="8587260" y="3879133"/>
            <a:ext cx="652471" cy="59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24"/>
          <p:cNvSpPr/>
          <p:nvPr>
            <p:custDataLst>
              <p:tags r:id="rId28"/>
            </p:custDataLst>
          </p:nvPr>
        </p:nvSpPr>
        <p:spPr>
          <a:xfrm>
            <a:off x="7930515" y="4481830"/>
            <a:ext cx="1924050" cy="1022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/>
              <a:t>订单</a:t>
            </a:r>
            <a:r>
              <a:rPr lang="zh-CN" altLang="en-US" sz="1600" dirty="0"/>
              <a:t>生成模块（</a:t>
            </a:r>
            <a:r>
              <a:rPr lang="en-US" altLang="zh-CN" sz="1600" dirty="0"/>
              <a:t>ns</a:t>
            </a:r>
            <a:r>
              <a:rPr lang="zh-CN" altLang="en-US" sz="1600" dirty="0"/>
              <a:t>，</a:t>
            </a:r>
            <a:r>
              <a:rPr lang="en-US" altLang="zh-CN" sz="1600" dirty="0"/>
              <a:t>pad</a:t>
            </a:r>
            <a:r>
              <a:rPr lang="zh-CN" altLang="en-US" sz="1600" dirty="0"/>
              <a:t>，</a:t>
            </a:r>
            <a:r>
              <a:rPr lang="en-US" altLang="zh-CN" sz="1600" dirty="0"/>
              <a:t>jackson</a:t>
            </a:r>
            <a:r>
              <a:rPr lang="zh-CN" altLang="en-US" sz="1600" dirty="0"/>
              <a:t>伪代码</a:t>
            </a:r>
            <a:r>
              <a:rPr lang="zh-CN" altLang="en-US" sz="1600" dirty="0"/>
              <a:t>讲解）</a:t>
            </a:r>
            <a:endParaRPr lang="zh-CN" altLang="en-US" sz="1600" dirty="0"/>
          </a:p>
        </p:txBody>
      </p:sp>
      <p:sp>
        <p:nvSpPr>
          <p:cNvPr id="36" name="文本框 35"/>
          <p:cNvSpPr txBox="1"/>
          <p:nvPr/>
        </p:nvSpPr>
        <p:spPr>
          <a:xfrm>
            <a:off x="5386070" y="4488180"/>
            <a:ext cx="1495425" cy="883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登录阶段（</a:t>
            </a:r>
            <a:r>
              <a:rPr lang="en-US" altLang="zh-CN"/>
              <a:t>hipo</a:t>
            </a:r>
            <a:r>
              <a:rPr lang="zh-CN" altLang="en-US"/>
              <a:t>图和事务流</a:t>
            </a:r>
            <a:r>
              <a:rPr lang="zh-CN" altLang="en-US"/>
              <a:t>图）</a:t>
            </a:r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06-d2t809lnfo2stf9dim70.jpg"/>
          <p:cNvPicPr>
            <a:picLocks noChangeAspect="1"/>
          </p:cNvPicPr>
          <p:nvPr/>
        </p:nvPicPr>
        <p:blipFill>
          <a:blip r:embed="rId1">
            <a:alphaModFix amt="89000"/>
          </a:blip>
          <a:srcRect l="9673" r="9673"/>
          <a:stretch>
            <a:fillRect/>
          </a:stretch>
        </p:blipFill>
        <p:spPr>
          <a:xfrm>
            <a:off x="0" y="1829435"/>
            <a:ext cx="12191365" cy="3262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41203" y="3609975"/>
            <a:ext cx="3108960" cy="9848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项目定位与</a:t>
            </a:r>
            <a:r>
              <a:rPr lang="zh-CN" alt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以及技术</a:t>
            </a:r>
            <a:r>
              <a:rPr lang="zh-CN" alt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</a:t>
            </a:r>
            <a:endParaRPr lang="zh-CN" altLang="en-US" sz="32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3800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11" name="Image 1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16200000">
            <a:off x="2310130" y="2972435"/>
            <a:ext cx="1301115" cy="97663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5400000" flipH="1">
            <a:off x="8475980" y="2972435"/>
            <a:ext cx="1301115" cy="9766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50-d2t80klnfo2stf9dimog.png"/>
          <p:cNvPicPr>
            <a:picLocks noChangeAspect="1"/>
          </p:cNvPicPr>
          <p:nvPr/>
        </p:nvPicPr>
        <p:blipFill>
          <a:blip r:embed="rId1"/>
          <a:srcRect l="-378" t="473" r="-3709" b="-473"/>
          <a:stretch>
            <a:fillRect/>
          </a:stretch>
        </p:blipFill>
        <p:spPr>
          <a:xfrm>
            <a:off x="662940" y="4739640"/>
            <a:ext cx="11331575" cy="1651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16:50-d2t80klnfo2stf9dimog.png"/>
          <p:cNvPicPr>
            <a:picLocks noChangeAspect="1"/>
          </p:cNvPicPr>
          <p:nvPr/>
        </p:nvPicPr>
        <p:blipFill>
          <a:blip r:embed="rId1"/>
          <a:srcRect l="-378" t="473" r="-3709" b="-473"/>
          <a:stretch>
            <a:fillRect/>
          </a:stretch>
        </p:blipFill>
        <p:spPr>
          <a:xfrm>
            <a:off x="662940" y="1626235"/>
            <a:ext cx="11331575" cy="15468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flipH="1">
            <a:off x="11314843" y="880248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Text 1"/>
          <p:cNvSpPr/>
          <p:nvPr/>
        </p:nvSpPr>
        <p:spPr>
          <a:xfrm>
            <a:off x="11314843" y="8802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 flipH="1">
            <a:off x="11186668" y="8802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7" name="Text 3"/>
          <p:cNvSpPr/>
          <p:nvPr/>
        </p:nvSpPr>
        <p:spPr>
          <a:xfrm>
            <a:off x="11186668" y="8802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 flipH="1">
            <a:off x="11055654" y="880248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9" name="Text 5"/>
          <p:cNvSpPr/>
          <p:nvPr/>
        </p:nvSpPr>
        <p:spPr>
          <a:xfrm>
            <a:off x="11055654" y="8802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flipH="1">
            <a:off x="10924640" y="8802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1" name="Text 7"/>
          <p:cNvSpPr/>
          <p:nvPr/>
        </p:nvSpPr>
        <p:spPr>
          <a:xfrm>
            <a:off x="10924640" y="8802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42215" y="679306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城小二校园即时配送系统定位</a:t>
            </a:r>
            <a:endParaRPr lang="en-US" sz="1600" dirty="0"/>
          </a:p>
        </p:txBody>
      </p:sp>
      <p:pic>
        <p:nvPicPr>
          <p:cNvPr id="13" name="Image 2" descr="https://kimi-img.moonshot.cn/pub/slides/slides_tmpl/image/25-09-05-14:16:34-d2t80glnfo2stf9dimm0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88060" y="1960880"/>
            <a:ext cx="845820" cy="845820"/>
          </a:xfrm>
          <a:prstGeom prst="rect">
            <a:avLst/>
          </a:prstGeom>
        </p:spPr>
      </p:pic>
      <p:pic>
        <p:nvPicPr>
          <p:cNvPr id="14" name="Image 3" descr="https://kimi-img.moonshot.cn/pub/slides/slides_tmpl/image/25-09-05-14:16:34-d2t80glnfo2stf9dimm0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88060" y="5149215"/>
            <a:ext cx="845820" cy="84582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09-05-14:16:34-d2t80glnfo2stf9dimm0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87635" y="3466465"/>
            <a:ext cx="845820" cy="84582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1097598" y="2084705"/>
            <a:ext cx="626745" cy="54356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7" name="Text 10"/>
          <p:cNvSpPr/>
          <p:nvPr/>
        </p:nvSpPr>
        <p:spPr>
          <a:xfrm>
            <a:off x="1097598" y="2084705"/>
            <a:ext cx="626745" cy="543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276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2077984" y="1815061"/>
            <a:ext cx="5268832" cy="3067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BE1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服务对象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1986700" y="2174005"/>
            <a:ext cx="7796220" cy="545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城小二项目主要面向浙大城市学院全体师生，精准定位校园内零食采购需求，为师生提供便捷的即时配送服务。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10397173" y="3590290"/>
            <a:ext cx="626745" cy="54356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1" name="Text 14"/>
          <p:cNvSpPr/>
          <p:nvPr/>
        </p:nvSpPr>
        <p:spPr>
          <a:xfrm>
            <a:off x="10397173" y="3590290"/>
            <a:ext cx="626745" cy="543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276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258295" y="3390272"/>
            <a:ext cx="3663434" cy="3067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dirty="0">
                <a:solidFill>
                  <a:srgbClr val="FBE1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解决痛点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2147779" y="3657776"/>
            <a:ext cx="7796220" cy="545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针对校园零食采购夜间无渠道、配送耗时长、操作不便捷三大痛点，城小二提供30分钟即时送达服务，优化用户体验。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1097598" y="5273040"/>
            <a:ext cx="626745" cy="54356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5" name="Text 18"/>
          <p:cNvSpPr/>
          <p:nvPr/>
        </p:nvSpPr>
        <p:spPr>
          <a:xfrm>
            <a:off x="1097598" y="5273040"/>
            <a:ext cx="626745" cy="543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276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2147834" y="4927577"/>
            <a:ext cx="5268832" cy="3067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BE1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2056550" y="5205241"/>
            <a:ext cx="7796220" cy="6399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城小二以微信小程序为载体，实现轻量化操作，双端协同服务，为师生带来高效、便捷的零食采购体验。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31-d2t80ftnfo2stf9dimg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1544320"/>
            <a:ext cx="12192635" cy="529907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16:59-d2t80mtnfo2stf9dimsg.png"/>
          <p:cNvPicPr>
            <a:picLocks noChangeAspect="1"/>
          </p:cNvPicPr>
          <p:nvPr/>
        </p:nvPicPr>
        <p:blipFill>
          <a:blip r:embed="rId2">
            <a:alphaModFix amt="89000"/>
          </a:blip>
          <a:srcRect l="9673" r="9673"/>
          <a:stretch>
            <a:fillRect/>
          </a:stretch>
        </p:blipFill>
        <p:spPr>
          <a:xfrm>
            <a:off x="0" y="4027805"/>
            <a:ext cx="12191365" cy="952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4:16:19-d2t80ctnfo2stf9dimc0.jpg"/>
          <p:cNvPicPr>
            <a:picLocks noChangeAspect="1"/>
          </p:cNvPicPr>
          <p:nvPr/>
        </p:nvPicPr>
        <p:blipFill>
          <a:blip r:embed="rId3">
            <a:alphaModFix amt="89000"/>
          </a:blip>
          <a:srcRect l="9673" r="9673"/>
          <a:stretch>
            <a:fillRect/>
          </a:stretch>
        </p:blipFill>
        <p:spPr>
          <a:xfrm>
            <a:off x="3175" y="-20955"/>
            <a:ext cx="12191365" cy="156527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4:17:00-d2t80n5nfo2stf9dimt0.png"/>
          <p:cNvPicPr>
            <a:picLocks noChangeAspect="1"/>
          </p:cNvPicPr>
          <p:nvPr/>
        </p:nvPicPr>
        <p:blipFill>
          <a:blip r:embed="rId4"/>
          <a:srcRect l="17" r="17"/>
          <a:stretch>
            <a:fillRect/>
          </a:stretch>
        </p:blipFill>
        <p:spPr>
          <a:xfrm>
            <a:off x="4590706" y="2629051"/>
            <a:ext cx="1092200" cy="18923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10924640" y="910093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7" name="Text 1"/>
          <p:cNvSpPr/>
          <p:nvPr/>
        </p:nvSpPr>
        <p:spPr>
          <a:xfrm>
            <a:off x="10924640" y="910093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2"/>
          <p:cNvSpPr/>
          <p:nvPr/>
        </p:nvSpPr>
        <p:spPr>
          <a:xfrm>
            <a:off x="11052814" y="910093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9" name="Text 3"/>
          <p:cNvSpPr/>
          <p:nvPr/>
        </p:nvSpPr>
        <p:spPr>
          <a:xfrm>
            <a:off x="11052814" y="910093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4"/>
          <p:cNvSpPr/>
          <p:nvPr/>
        </p:nvSpPr>
        <p:spPr>
          <a:xfrm>
            <a:off x="11183828" y="910093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1" name="Text 5"/>
          <p:cNvSpPr/>
          <p:nvPr/>
        </p:nvSpPr>
        <p:spPr>
          <a:xfrm>
            <a:off x="11183828" y="910093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11314843" y="910093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3" name="Text 7"/>
          <p:cNvSpPr/>
          <p:nvPr/>
        </p:nvSpPr>
        <p:spPr>
          <a:xfrm>
            <a:off x="11314843" y="910093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4" descr="https://kimi-img.moonshot.cn/pub/slides/slides_tmpl/image/25-09-05-14:17:00-d2t80n5nfo2stf9dimt0.png"/>
          <p:cNvPicPr>
            <a:picLocks noChangeAspect="1"/>
          </p:cNvPicPr>
          <p:nvPr/>
        </p:nvPicPr>
        <p:blipFill>
          <a:blip r:embed="rId4"/>
          <a:srcRect l="17" r="17"/>
          <a:stretch>
            <a:fillRect/>
          </a:stretch>
        </p:blipFill>
        <p:spPr>
          <a:xfrm rot="10800000">
            <a:off x="1541077" y="3595617"/>
            <a:ext cx="1092200" cy="1892300"/>
          </a:xfrm>
          <a:prstGeom prst="rect">
            <a:avLst/>
          </a:prstGeom>
        </p:spPr>
      </p:pic>
      <p:pic>
        <p:nvPicPr>
          <p:cNvPr id="15" name="Image 5" descr="https://kimi-img.moonshot.cn/pub/slides/slides_tmpl/image/25-09-05-14:17:00-d2t80n5nfo2stf9dimt0.png"/>
          <p:cNvPicPr>
            <a:picLocks noChangeAspect="1"/>
          </p:cNvPicPr>
          <p:nvPr/>
        </p:nvPicPr>
        <p:blipFill>
          <a:blip r:embed="rId4"/>
          <a:srcRect l="17" r="17"/>
          <a:stretch>
            <a:fillRect/>
          </a:stretch>
        </p:blipFill>
        <p:spPr>
          <a:xfrm rot="10800000">
            <a:off x="6640366" y="3595617"/>
            <a:ext cx="1092200" cy="1892300"/>
          </a:xfrm>
          <a:prstGeom prst="rect">
            <a:avLst/>
          </a:prstGeom>
        </p:spPr>
      </p:pic>
      <p:pic>
        <p:nvPicPr>
          <p:cNvPr id="16" name="Image 6" descr="https://kimi-img.moonshot.cn/pub/slides/slides_tmpl/image/25-09-05-14:17:00-d2t80n5nfo2stf9dimt0.png"/>
          <p:cNvPicPr>
            <a:picLocks noChangeAspect="1"/>
          </p:cNvPicPr>
          <p:nvPr/>
        </p:nvPicPr>
        <p:blipFill>
          <a:blip r:embed="rId4"/>
          <a:srcRect l="17" r="17"/>
          <a:stretch>
            <a:fillRect/>
          </a:stretch>
        </p:blipFill>
        <p:spPr>
          <a:xfrm>
            <a:off x="9679913" y="2637361"/>
            <a:ext cx="1092200" cy="18923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11735" y="726296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设计目标与性能指标</a:t>
            </a:r>
            <a:endParaRPr lang="en-US" sz="1600" dirty="0"/>
          </a:p>
        </p:txBody>
      </p:sp>
      <p:sp>
        <p:nvSpPr>
          <p:cNvPr id="18" name="Shape 9"/>
          <p:cNvSpPr/>
          <p:nvPr/>
        </p:nvSpPr>
        <p:spPr>
          <a:xfrm>
            <a:off x="1764991" y="4798730"/>
            <a:ext cx="652471" cy="3286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9" name="Text 10"/>
          <p:cNvSpPr/>
          <p:nvPr/>
        </p:nvSpPr>
        <p:spPr>
          <a:xfrm>
            <a:off x="1764991" y="4798730"/>
            <a:ext cx="652471" cy="32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11"/>
          <p:cNvSpPr/>
          <p:nvPr/>
        </p:nvSpPr>
        <p:spPr>
          <a:xfrm>
            <a:off x="2646256" y="4349770"/>
            <a:ext cx="3505796" cy="2845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功能闭环</a:t>
            </a:r>
            <a:endParaRPr lang="en-US" sz="1600" dirty="0"/>
          </a:p>
        </p:txBody>
      </p:sp>
      <p:sp>
        <p:nvSpPr>
          <p:cNvPr id="21" name="Text 12"/>
          <p:cNvSpPr/>
          <p:nvPr/>
        </p:nvSpPr>
        <p:spPr>
          <a:xfrm>
            <a:off x="2541905" y="4603115"/>
            <a:ext cx="3789045" cy="5826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城小二设计覆盖浏览、加购、下单、支付、配送、评价全流程，确保用户操作流畅，功能完整。</a:t>
            </a:r>
            <a:endParaRPr lang="en-US" sz="1600" dirty="0"/>
          </a:p>
        </p:txBody>
      </p:sp>
      <p:sp>
        <p:nvSpPr>
          <p:cNvPr id="22" name="Shape 13"/>
          <p:cNvSpPr/>
          <p:nvPr/>
        </p:nvSpPr>
        <p:spPr>
          <a:xfrm>
            <a:off x="4813594" y="2988125"/>
            <a:ext cx="652471" cy="3286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3" name="Text 14"/>
          <p:cNvSpPr/>
          <p:nvPr/>
        </p:nvSpPr>
        <p:spPr>
          <a:xfrm>
            <a:off x="4813594" y="2988125"/>
            <a:ext cx="652471" cy="32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616288" y="1917466"/>
            <a:ext cx="3505796" cy="2845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性能保障</a:t>
            </a:r>
            <a:endParaRPr lang="en-US" sz="1600" dirty="0"/>
          </a:p>
        </p:txBody>
      </p:sp>
      <p:sp>
        <p:nvSpPr>
          <p:cNvPr id="25" name="Text 16"/>
          <p:cNvSpPr/>
          <p:nvPr/>
        </p:nvSpPr>
        <p:spPr>
          <a:xfrm>
            <a:off x="511810" y="2171065"/>
            <a:ext cx="3768090" cy="8739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系统设计注重性能优化，页面加载时间不超过2秒，接口响应时间控制在500毫秒以内，支持500人并发无卡顿。</a:t>
            </a:r>
            <a:endParaRPr lang="en-US" sz="1600" dirty="0"/>
          </a:p>
        </p:txBody>
      </p:sp>
      <p:sp>
        <p:nvSpPr>
          <p:cNvPr id="26" name="Shape 17"/>
          <p:cNvSpPr/>
          <p:nvPr/>
        </p:nvSpPr>
        <p:spPr>
          <a:xfrm>
            <a:off x="6857735" y="4815664"/>
            <a:ext cx="652471" cy="3286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7" name="Text 18"/>
          <p:cNvSpPr/>
          <p:nvPr/>
        </p:nvSpPr>
        <p:spPr>
          <a:xfrm>
            <a:off x="6857735" y="4815664"/>
            <a:ext cx="652471" cy="32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7686006" y="4349770"/>
            <a:ext cx="3505796" cy="2845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安全可靠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7581265" y="4603115"/>
            <a:ext cx="3824605" cy="5826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城小二采用数据加密存储、权限分级管控、异常流程容错等措施，全方位保障用户数据安全。</a:t>
            </a:r>
            <a:endParaRPr lang="en-US" sz="1600" dirty="0"/>
          </a:p>
        </p:txBody>
      </p:sp>
      <p:sp>
        <p:nvSpPr>
          <p:cNvPr id="30" name="Shape 21"/>
          <p:cNvSpPr/>
          <p:nvPr/>
        </p:nvSpPr>
        <p:spPr>
          <a:xfrm>
            <a:off x="9899777" y="3006414"/>
            <a:ext cx="652471" cy="3286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31" name="Text 22"/>
          <p:cNvSpPr/>
          <p:nvPr/>
        </p:nvSpPr>
        <p:spPr>
          <a:xfrm>
            <a:off x="9899777" y="3006414"/>
            <a:ext cx="652471" cy="32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Text 23"/>
          <p:cNvSpPr/>
          <p:nvPr/>
        </p:nvSpPr>
        <p:spPr>
          <a:xfrm>
            <a:off x="5632024" y="1917466"/>
            <a:ext cx="3505796" cy="2845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易扩展</a:t>
            </a:r>
            <a:endParaRPr lang="en-US" sz="1600" dirty="0"/>
          </a:p>
        </p:txBody>
      </p:sp>
      <p:sp>
        <p:nvSpPr>
          <p:cNvPr id="33" name="Text 24"/>
          <p:cNvSpPr/>
          <p:nvPr/>
        </p:nvSpPr>
        <p:spPr>
          <a:xfrm>
            <a:off x="5527675" y="2171065"/>
            <a:ext cx="3804920" cy="5826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系统设计具备良好的扩展性，支持配送时效、商品类目等配置化修改，适配未来迭代需求。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31-d2t80ftnfo2stf9dimg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225806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16:20-d2t80d5nfo2stf9dimd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948170" y="1614170"/>
            <a:ext cx="3495675" cy="69919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34263" y="427828"/>
            <a:ext cx="3049055" cy="606887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 flipH="1">
            <a:off x="11314843" y="930413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6" name="Text 2"/>
          <p:cNvSpPr/>
          <p:nvPr/>
        </p:nvSpPr>
        <p:spPr>
          <a:xfrm>
            <a:off x="11314843" y="930413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 flipH="1">
            <a:off x="11186668" y="930413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8" name="Text 4"/>
          <p:cNvSpPr/>
          <p:nvPr/>
        </p:nvSpPr>
        <p:spPr>
          <a:xfrm>
            <a:off x="11186668" y="930413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 flipH="1">
            <a:off x="11055654" y="930413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0" name="Text 6"/>
          <p:cNvSpPr/>
          <p:nvPr/>
        </p:nvSpPr>
        <p:spPr>
          <a:xfrm>
            <a:off x="11055654" y="930413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 flipH="1">
            <a:off x="10924640" y="930413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2" name="Text 8"/>
          <p:cNvSpPr/>
          <p:nvPr/>
        </p:nvSpPr>
        <p:spPr>
          <a:xfrm>
            <a:off x="10924640" y="930413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3" name="Image 2" descr="https://kimi-img.moonshot.cn/pub/slides/slides_tmpl/image/25-09-05-14:16:31-d2t80ftnfo2stf9dim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829310" y="4091305"/>
            <a:ext cx="3155950" cy="149669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2215" y="773921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25252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双域架构与核心技术栈</a:t>
            </a:r>
            <a:endParaRPr lang="en-US" sz="1600" dirty="0"/>
          </a:p>
        </p:txBody>
      </p:sp>
      <p:pic>
        <p:nvPicPr>
          <p:cNvPr id="15" name="Image 3" descr="https://kimi-img.moonshot.cn/pub/slides/slides_tmpl/image/25-09-05-14:16:06-d2t809lnfo2stf9dim5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79780" y="1612900"/>
            <a:ext cx="3912870" cy="644525"/>
          </a:xfrm>
          <a:prstGeom prst="rect">
            <a:avLst/>
          </a:prstGeom>
        </p:spPr>
      </p:pic>
      <p:pic>
        <p:nvPicPr>
          <p:cNvPr id="16" name="Image 4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5">
            <a:alphaModFix amt="23000"/>
          </a:blip>
          <a:stretch>
            <a:fillRect/>
          </a:stretch>
        </p:blipFill>
        <p:spPr>
          <a:xfrm rot="16200000">
            <a:off x="2359660" y="5097780"/>
            <a:ext cx="1301115" cy="976630"/>
          </a:xfrm>
          <a:prstGeom prst="rect">
            <a:avLst/>
          </a:prstGeom>
        </p:spPr>
      </p:pic>
      <p:pic>
        <p:nvPicPr>
          <p:cNvPr id="17" name="Image 5" descr="https://kimi-img.moonshot.cn/pub/slides/slides_tmpl/image/25-09-05-14:16:31-d2t80ftnfo2stf9dimh0.png"/>
          <p:cNvPicPr>
            <a:picLocks noChangeAspect="1"/>
          </p:cNvPicPr>
          <p:nvPr/>
        </p:nvPicPr>
        <p:blipFill>
          <a:blip r:embed="rId6">
            <a:alphaModFix amt="89000"/>
          </a:blip>
          <a:srcRect l="9673" r="9673"/>
          <a:stretch>
            <a:fillRect/>
          </a:stretch>
        </p:blipFill>
        <p:spPr>
          <a:xfrm>
            <a:off x="0" y="0"/>
            <a:ext cx="12191365" cy="60007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34085" y="1781175"/>
            <a:ext cx="3744595" cy="3067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双域架构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695325" y="2583815"/>
            <a:ext cx="5319395" cy="9600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城小二采用双域架构体系，用户服务域面向师生，包含登录、购物、订单、个人中心；运营管理域面向管理员，涵盖商品、订单调度、系统配置。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6840220" y="4474210"/>
            <a:ext cx="3710940" cy="3067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BE1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核心技术栈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6179892" y="4908005"/>
            <a:ext cx="5084322" cy="1060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前端采用Vue3+Taro3开发小程序，Element Plus用于管理端；后端使用Node.js+Express提供API服务；数据库选用MySQL 8.0。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06-d2t809lnfo2stf9dim70.jpg"/>
          <p:cNvPicPr>
            <a:picLocks noChangeAspect="1"/>
          </p:cNvPicPr>
          <p:nvPr/>
        </p:nvPicPr>
        <p:blipFill>
          <a:blip r:embed="rId1">
            <a:alphaModFix amt="89000"/>
          </a:blip>
          <a:srcRect l="9673" r="9673"/>
          <a:stretch>
            <a:fillRect/>
          </a:stretch>
        </p:blipFill>
        <p:spPr>
          <a:xfrm>
            <a:off x="0" y="1829435"/>
            <a:ext cx="12191365" cy="3262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41203" y="3609975"/>
            <a:ext cx="3108960" cy="49946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界面与交互设计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3800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11" name="Image 1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16200000">
            <a:off x="2310130" y="2972435"/>
            <a:ext cx="1301115" cy="97663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5400000" flipH="1">
            <a:off x="8475980" y="2972435"/>
            <a:ext cx="1301115" cy="9766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24-d2t80e5nfo2stf9dime0.jpeg"/>
          <p:cNvPicPr>
            <a:picLocks noChangeAspect="1"/>
          </p:cNvPicPr>
          <p:nvPr/>
        </p:nvPicPr>
        <p:blipFill>
          <a:blip r:embed="rId1"/>
          <a:srcRect t="22147" b="22147"/>
          <a:stretch>
            <a:fillRect/>
          </a:stretch>
        </p:blipFill>
        <p:spPr>
          <a:xfrm>
            <a:off x="0" y="772795"/>
            <a:ext cx="12192635" cy="408051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16:06-d2t809lnfo2stf9dim7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4065"/>
            <a:ext cx="12192000" cy="407987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4:16:06-d2t809lnfo2stf9dim5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-12700" y="4081145"/>
            <a:ext cx="5066030" cy="78486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0850" y="1191260"/>
            <a:ext cx="5490845" cy="12865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zh-CN" alt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</a:t>
            </a: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端界面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 flipH="1">
            <a:off x="11529695" y="502920"/>
            <a:ext cx="78105" cy="7175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7" name="Text 2"/>
          <p:cNvSpPr/>
          <p:nvPr/>
        </p:nvSpPr>
        <p:spPr>
          <a:xfrm>
            <a:off x="11529695" y="50292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 flipH="1">
            <a:off x="11398250" y="504190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9" name="Text 4"/>
          <p:cNvSpPr/>
          <p:nvPr/>
        </p:nvSpPr>
        <p:spPr>
          <a:xfrm>
            <a:off x="11398250" y="50419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 flipH="1">
            <a:off x="11269980" y="502920"/>
            <a:ext cx="78105" cy="7175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1" name="Text 6"/>
          <p:cNvSpPr/>
          <p:nvPr/>
        </p:nvSpPr>
        <p:spPr>
          <a:xfrm>
            <a:off x="11269980" y="50292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 flipH="1">
            <a:off x="11139170" y="502920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3" name="Text 8"/>
          <p:cNvSpPr/>
          <p:nvPr/>
        </p:nvSpPr>
        <p:spPr>
          <a:xfrm>
            <a:off x="11139170" y="50292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0850" y="4338955"/>
            <a:ext cx="4288155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界面设计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32435" y="5052060"/>
            <a:ext cx="11332845" cy="99758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用户端界面简洁直观，核心操作步骤不超过3步，适配校园用户使用习惯。</a:t>
            </a:r>
            <a:endParaRPr lang="en-US" sz="1600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925" y="1769110"/>
            <a:ext cx="2479675" cy="274510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3330" y="1769110"/>
            <a:ext cx="2438400" cy="306768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6540" y="1412240"/>
            <a:ext cx="2438400" cy="33978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24-d2t80e5nfo2stf9dime0.jpeg"/>
          <p:cNvPicPr>
            <a:picLocks noChangeAspect="1"/>
          </p:cNvPicPr>
          <p:nvPr/>
        </p:nvPicPr>
        <p:blipFill>
          <a:blip r:embed="rId1"/>
          <a:srcRect t="22147" b="22147"/>
          <a:stretch>
            <a:fillRect/>
          </a:stretch>
        </p:blipFill>
        <p:spPr>
          <a:xfrm>
            <a:off x="0" y="772795"/>
            <a:ext cx="12192635" cy="408051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16:06-d2t809lnfo2stf9dim7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4065"/>
            <a:ext cx="12192000" cy="407987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4:16:06-d2t809lnfo2stf9dim5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-12700" y="4081145"/>
            <a:ext cx="5066030" cy="78486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0850" y="1191260"/>
            <a:ext cx="5490845" cy="12865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zh-CN" alt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管理员</a:t>
            </a: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端</a:t>
            </a:r>
            <a:r>
              <a:rPr lang="zh-CN" alt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</a:t>
            </a:r>
            <a:endParaRPr lang="zh-CN" altLang="en-US" sz="36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Shape 1"/>
          <p:cNvSpPr/>
          <p:nvPr/>
        </p:nvSpPr>
        <p:spPr>
          <a:xfrm flipH="1">
            <a:off x="11529695" y="502920"/>
            <a:ext cx="78105" cy="7175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7" name="Text 2"/>
          <p:cNvSpPr/>
          <p:nvPr/>
        </p:nvSpPr>
        <p:spPr>
          <a:xfrm>
            <a:off x="11529695" y="50292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 flipH="1">
            <a:off x="11398250" y="504190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9" name="Text 4"/>
          <p:cNvSpPr/>
          <p:nvPr/>
        </p:nvSpPr>
        <p:spPr>
          <a:xfrm>
            <a:off x="11398250" y="50419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 flipH="1">
            <a:off x="11269980" y="502920"/>
            <a:ext cx="78105" cy="7175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1" name="Text 6"/>
          <p:cNvSpPr/>
          <p:nvPr/>
        </p:nvSpPr>
        <p:spPr>
          <a:xfrm>
            <a:off x="11269980" y="50292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 flipH="1">
            <a:off x="11139170" y="502920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3" name="Text 8"/>
          <p:cNvSpPr/>
          <p:nvPr/>
        </p:nvSpPr>
        <p:spPr>
          <a:xfrm>
            <a:off x="11139170" y="50292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0850" y="4338955"/>
            <a:ext cx="4288155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界面设计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32435" y="5052060"/>
            <a:ext cx="11332845" cy="99758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管理员端界面功能齐全，满足商品管理、订单调度、数据统计等需求。</a:t>
            </a:r>
            <a:endParaRPr lang="en-US" sz="16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1450" y="1191260"/>
            <a:ext cx="2444750" cy="328549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2925" y="1153160"/>
            <a:ext cx="2730500" cy="318579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06-d2t809lnfo2stf9dim70.jpg"/>
          <p:cNvPicPr>
            <a:picLocks noChangeAspect="1"/>
          </p:cNvPicPr>
          <p:nvPr/>
        </p:nvPicPr>
        <p:blipFill>
          <a:blip r:embed="rId1">
            <a:alphaModFix amt="89000"/>
          </a:blip>
          <a:srcRect l="9673" r="9673"/>
          <a:stretch>
            <a:fillRect/>
          </a:stretch>
        </p:blipFill>
        <p:spPr>
          <a:xfrm>
            <a:off x="0" y="1829435"/>
            <a:ext cx="12191365" cy="3262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41203" y="3609975"/>
            <a:ext cx="310896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数据库</a:t>
            </a: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3800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11" name="Image 1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16200000">
            <a:off x="2310130" y="2972435"/>
            <a:ext cx="1301115" cy="97663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5400000" flipH="1">
            <a:off x="8475980" y="2972435"/>
            <a:ext cx="1301115" cy="9766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/>
        </p:nvGraphicFramePr>
        <p:xfrm>
          <a:off x="609600" y="2813558"/>
          <a:ext cx="14020800" cy="161544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表名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字段名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数据类型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长度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允许空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默认值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约束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字段说明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user_table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（用户表）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user_id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32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主键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用户唯一标识（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UUID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openid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64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唯一索引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微信</a:t>
                      </a:r>
                      <a:r>
                        <a:rPr lang="zh-CN" altLang="en-US" sz="900">
                          <a:latin typeface="Arial" panose="020B0604020202020204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OpenID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nickname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64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是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用户昵称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avatar_url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255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是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头像链接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phone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15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是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脱敏手机号（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138****1234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create_time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DATETIME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CURRENT_TIMESTAMP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注册时间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last_login_time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DATETIME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是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NULL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最近登录时间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609600" y="3339021"/>
          <a:ext cx="14020800" cy="96393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admin_table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（管理员表）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admin_id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32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主键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管理员唯一标识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29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username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32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唯一索引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管理员用户名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password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32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MD5 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加密密码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77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status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TINYINT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1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账号状态（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1 = 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正常，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0 = 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禁用）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609600" y="2813558"/>
          <a:ext cx="14020800" cy="1771015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goods_table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（商品表）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goods_id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32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主键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商品唯一标识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29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name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64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商品名称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price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DECIMAL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10,2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&gt;0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商品单价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stock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INT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0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≥0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库存数量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category_id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32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分类</a:t>
                      </a:r>
                      <a:r>
                        <a:rPr lang="zh-CN" altLang="en-US" sz="900">
                          <a:latin typeface="Arial" panose="020B0604020202020204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29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img_url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255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是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商品图片链接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77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shelf_status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TINYINT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1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上架状态（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0 = 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未上架，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1 = 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已上架）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create_time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DATETIME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CURRENT_TIMESTAMP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创建时间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609600" y="3063748"/>
          <a:ext cx="14020800" cy="1322705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cart_table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（购物车表）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cart_id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32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主键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购物车记录</a:t>
                      </a:r>
                      <a:r>
                        <a:rPr lang="zh-CN" altLang="en-US" sz="900">
                          <a:latin typeface="Arial" panose="020B0604020202020204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77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user_id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32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外键（关联</a:t>
                      </a:r>
                      <a:r>
                        <a:rPr lang="zh-CN" altLang="en-US" sz="900">
                          <a:latin typeface="Arial" panose="020B0604020202020204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user_table.user_id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用户</a:t>
                      </a:r>
                      <a:r>
                        <a:rPr lang="zh-CN" altLang="en-US" sz="900">
                          <a:latin typeface="Arial" panose="020B0604020202020204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77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goods_id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32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外键（关联</a:t>
                      </a:r>
                      <a:r>
                        <a:rPr lang="zh-CN" altLang="en-US" sz="900">
                          <a:latin typeface="Arial" panose="020B0604020202020204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goods_table.goods_id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商品</a:t>
                      </a:r>
                      <a:r>
                        <a:rPr lang="zh-CN" altLang="en-US" sz="900">
                          <a:latin typeface="Arial" panose="020B0604020202020204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29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quantity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INT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1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≥1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购买数量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create_time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DATETIME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CURRENT_TIMESTAMP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创建时间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609600" y="3035173"/>
          <a:ext cx="14020800" cy="136779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address_table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（地址表）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address_id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32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主键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地址唯一标识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77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user_id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32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外键（关联</a:t>
                      </a:r>
                      <a:r>
                        <a:rPr lang="zh-CN" altLang="en-US" sz="900">
                          <a:latin typeface="Arial" panose="020B0604020202020204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user_table.user_id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用户</a:t>
                      </a:r>
                      <a:r>
                        <a:rPr lang="zh-CN" altLang="en-US" sz="900">
                          <a:latin typeface="Arial" panose="020B0604020202020204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building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INT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1≤building≤20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楼栋号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29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room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10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房间号（如</a:t>
                      </a:r>
                      <a:r>
                        <a:rPr lang="zh-CN" altLang="en-US" sz="900">
                          <a:latin typeface="Arial" panose="020B0604020202020204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302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phone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15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脱敏手机号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create_time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DATETIME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CURRENT_TIMESTAMP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创建时间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609600" y="1712468"/>
          <a:ext cx="14020800" cy="3677285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order_table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（订单表）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order_id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32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主键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订单唯一标识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77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user_id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32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外键（关联</a:t>
                      </a:r>
                      <a:r>
                        <a:rPr lang="zh-CN" altLang="en-US" sz="900">
                          <a:latin typeface="Arial" panose="020B0604020202020204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user_table.user_id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用户</a:t>
                      </a:r>
                      <a:r>
                        <a:rPr lang="zh-CN" altLang="en-US" sz="900">
                          <a:latin typeface="Arial" panose="020B0604020202020204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77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goods_list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JSON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商品列表（含</a:t>
                      </a:r>
                      <a:r>
                        <a:rPr lang="zh-CN" altLang="en-US" sz="900">
                          <a:latin typeface="Arial" panose="020B0604020202020204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ID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、数量、价格、名称）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29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total_amount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DECIMAL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10,2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&gt;0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总金额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77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address_id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32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外键（关联</a:t>
                      </a:r>
                      <a:r>
                        <a:rPr lang="zh-CN" altLang="en-US" sz="900">
                          <a:latin typeface="Arial" panose="020B0604020202020204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address_table.address_id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地址</a:t>
                      </a:r>
                      <a:r>
                        <a:rPr lang="zh-CN" altLang="en-US" sz="900">
                          <a:latin typeface="Arial" panose="020B0604020202020204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310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status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TINYINT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0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订单状态（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0 = 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待支付，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1 = 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已支付，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2 = 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配送中，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3 = 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已送达，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4 = 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已完成，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5 = 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已取消，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6 = 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已退款）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delivery_id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32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是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NULL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预留字段（无需赋值）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create_time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DATETIME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CURRENT_TIMESTAMP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创建时间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29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pay_time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DATETIME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是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NULL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支付时间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finish_time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DATETIME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是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NULL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完成时间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cancel_time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DATETIME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是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NULL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取消时间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562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refund_status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TINYINT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0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退款状态（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0 = 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无退款，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1 = 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待审核，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2 = 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已退款，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3 = 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审核驳回）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609600" y="2649093"/>
          <a:ext cx="14020800" cy="1928495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refund_table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（退款表）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refund_id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32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主键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退款单唯一标识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77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order_id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32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外键（关联</a:t>
                      </a:r>
                      <a:r>
                        <a:rPr lang="zh-CN" altLang="en-US" sz="900">
                          <a:latin typeface="Arial" panose="020B0604020202020204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order_table.order_id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关联订单</a:t>
                      </a:r>
                      <a:r>
                        <a:rPr lang="zh-CN" altLang="en-US" sz="900">
                          <a:latin typeface="Arial" panose="020B0604020202020204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amount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DECIMAL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10,2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&gt;0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退款金额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77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status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TINYINT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0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退款状态（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0 = 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待审核，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1 = 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已退款，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2 = 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审核驳回）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apply_time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DATETIME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CURRENT_TIMESTAMP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申请时间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29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audit_time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DATETIME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是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NULL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审核时间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reason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500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是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退款理由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audit_reason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500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是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审核理由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609600" y="2899283"/>
          <a:ext cx="14020800" cy="163703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5877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delivery_task_table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（配送任务表）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task_id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32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主键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任务唯一标识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77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order_id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32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外键（关联</a:t>
                      </a:r>
                      <a:r>
                        <a:rPr lang="zh-CN" altLang="en-US" sz="900">
                          <a:latin typeface="Arial" panose="020B0604020202020204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order_table.order_id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关联订单</a:t>
                      </a:r>
                      <a:r>
                        <a:rPr lang="zh-CN" altLang="en-US" sz="900">
                          <a:latin typeface="Arial" panose="020B0604020202020204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ID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77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task_data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JSON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任务数据（含地址、商品列表等）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77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status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TINYINT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0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任务状态（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0 = 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待处理，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1 = 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配送中，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2 = 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已完成）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create_time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DATETIME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CURRENT_TIMESTAMP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创建时间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609600" y="3367596"/>
          <a:ext cx="14020800" cy="762635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58775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config_table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（系统配置表）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config_key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64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主键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配置键（如</a:t>
                      </a:r>
                      <a:r>
                        <a:rPr lang="zh-CN" altLang="en-US" sz="900">
                          <a:latin typeface="Arial" panose="020B0604020202020204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delivery_time_limit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config_value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VARCHAR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255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配置值（如</a:t>
                      </a:r>
                      <a:r>
                        <a:rPr lang="zh-CN" altLang="en-US" sz="900">
                          <a:latin typeface="Arial" panose="020B0604020202020204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30 </a:t>
                      </a: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分钟）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3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 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update_time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DATETIME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否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CURRENT_TIMESTAMP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900">
                          <a:latin typeface="Arial" panose="020B0604020202020204"/>
                          <a:ea typeface="等线" panose="02010600030101010101" charset="-122"/>
                        </a:rPr>
                        <a:t>-</a:t>
                      </a:r>
                      <a:endParaRPr lang="en-US" altLang="zh-CN" sz="9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900">
                          <a:latin typeface="等线" panose="02010600030101010101" charset="-122"/>
                          <a:ea typeface="等线" panose="02010600030101010101" charset="-122"/>
                        </a:rPr>
                        <a:t>更新时间</a:t>
                      </a:r>
                      <a:endParaRPr lang="zh-CN" sz="9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06-d2t809lnfo2stf9dim70.jpg"/>
          <p:cNvPicPr>
            <a:picLocks noChangeAspect="1"/>
          </p:cNvPicPr>
          <p:nvPr/>
        </p:nvPicPr>
        <p:blipFill>
          <a:blip r:embed="rId1">
            <a:alphaModFix amt="89000"/>
          </a:blip>
          <a:srcRect l="9673" r="9673"/>
          <a:stretch>
            <a:fillRect/>
          </a:stretch>
        </p:blipFill>
        <p:spPr>
          <a:xfrm>
            <a:off x="0" y="1829435"/>
            <a:ext cx="12191365" cy="3262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41203" y="3609975"/>
            <a:ext cx="310896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接口</a:t>
            </a: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3800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11" name="Image 1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16200000">
            <a:off x="2310130" y="2972435"/>
            <a:ext cx="1301115" cy="97663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5400000" flipH="1">
            <a:off x="8475980" y="2972435"/>
            <a:ext cx="1301115" cy="9766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1714500" y="2526665"/>
          <a:ext cx="8763000" cy="0"/>
        </p:xfrm>
        <a:graphic>
          <a:graphicData uri="http://schemas.openxmlformats.org/drawingml/2006/table">
            <a:tbl>
              <a:tblPr/>
              <a:tblGrid>
                <a:gridCol w="1752600"/>
                <a:gridCol w="1752600"/>
                <a:gridCol w="1752600"/>
                <a:gridCol w="1752600"/>
                <a:gridCol w="1752600"/>
              </a:tblGrid>
              <a:tr h="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接口标识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接口名称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接口实体</a:t>
                      </a:r>
                      <a:r>
                        <a:rPr lang="zh-CN" altLang="en-US" sz="1100">
                          <a:latin typeface="Arial" panose="020B0604020202020204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1100">
                          <a:latin typeface="Arial" panose="020B0604020202020204"/>
                          <a:ea typeface="等线" panose="02010600030101010101" charset="-122"/>
                        </a:rPr>
                        <a:t>A</a:t>
                      </a: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（请求方）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接口实体</a:t>
                      </a:r>
                      <a:r>
                        <a:rPr lang="zh-CN" altLang="en-US" sz="1100">
                          <a:latin typeface="Arial" panose="020B0604020202020204"/>
                          <a:ea typeface="等线" panose="02010600030101010101" charset="-122"/>
                        </a:rPr>
                        <a:t> </a:t>
                      </a:r>
                      <a:r>
                        <a:rPr lang="en-US" altLang="zh-CN" sz="1100">
                          <a:latin typeface="Arial" panose="020B0604020202020204"/>
                          <a:ea typeface="等线" panose="02010600030101010101" charset="-122"/>
                        </a:rPr>
                        <a:t>B</a:t>
                      </a: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（响应方）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接口类型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latin typeface="Arial" panose="020B0604020202020204"/>
                          <a:ea typeface="等线" panose="02010600030101010101" charset="-122"/>
                        </a:rPr>
                        <a:t>CXY-INT-001</a:t>
                      </a:r>
                      <a:endParaRPr lang="en-US" altLang="zh-CN" sz="11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用户下单接口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latin typeface="Arial" panose="020B0604020202020204"/>
                          <a:ea typeface="等线" panose="02010600030101010101" charset="-122"/>
                        </a:rPr>
                        <a:t>CXY-CSCI-USER</a:t>
                      </a:r>
                      <a:endParaRPr lang="en-US" altLang="zh-CN" sz="11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latin typeface="Arial" panose="020B0604020202020204"/>
                          <a:ea typeface="等线" panose="02010600030101010101" charset="-122"/>
                        </a:rPr>
                        <a:t>CXY-CSCI-BACKEND</a:t>
                      </a:r>
                      <a:endParaRPr lang="en-US" altLang="zh-CN" sz="11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内部接口（同步）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latin typeface="Arial" panose="020B0604020202020204"/>
                          <a:ea typeface="等线" panose="02010600030101010101" charset="-122"/>
                        </a:rPr>
                        <a:t>CXY-INT-002</a:t>
                      </a:r>
                      <a:endParaRPr lang="en-US" altLang="zh-CN" sz="11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订单状态更新接口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latin typeface="Arial" panose="020B0604020202020204"/>
                          <a:ea typeface="等线" panose="02010600030101010101" charset="-122"/>
                        </a:rPr>
                        <a:t>CXY-CSCI-ADMIN</a:t>
                      </a:r>
                      <a:endParaRPr lang="en-US" altLang="zh-CN" sz="11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latin typeface="Arial" panose="020B0604020202020204"/>
                          <a:ea typeface="等线" panose="02010600030101010101" charset="-122"/>
                        </a:rPr>
                        <a:t>CXY-CSCI-BACKEND</a:t>
                      </a:r>
                      <a:endParaRPr lang="en-US" altLang="zh-CN" sz="11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内部接口（同步）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latin typeface="Arial" panose="020B0604020202020204"/>
                          <a:ea typeface="等线" panose="02010600030101010101" charset="-122"/>
                        </a:rPr>
                        <a:t>CXY-INT-003</a:t>
                      </a:r>
                      <a:endParaRPr lang="en-US" altLang="zh-CN" sz="11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微信支付预下单接口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latin typeface="Arial" panose="020B0604020202020204"/>
                          <a:ea typeface="等线" panose="02010600030101010101" charset="-122"/>
                        </a:rPr>
                        <a:t>CXY-CSCI-BACKEND</a:t>
                      </a:r>
                      <a:endParaRPr lang="en-US" altLang="zh-CN" sz="11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微信支付接口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外部接口（同步）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latin typeface="Arial" panose="020B0604020202020204"/>
                          <a:ea typeface="等线" panose="02010600030101010101" charset="-122"/>
                        </a:rPr>
                        <a:t>CXY-INT-004</a:t>
                      </a:r>
                      <a:endParaRPr lang="en-US" altLang="zh-CN" sz="11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退款申请接口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latin typeface="Arial" panose="020B0604020202020204"/>
                          <a:ea typeface="等线" panose="02010600030101010101" charset="-122"/>
                        </a:rPr>
                        <a:t>CXY-CSCI-USER</a:t>
                      </a:r>
                      <a:endParaRPr lang="en-US" altLang="zh-CN" sz="11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latin typeface="Arial" panose="020B0604020202020204"/>
                          <a:ea typeface="等线" panose="02010600030101010101" charset="-122"/>
                        </a:rPr>
                        <a:t>CXY-CSCI-BACKEND</a:t>
                      </a:r>
                      <a:endParaRPr lang="en-US" altLang="zh-CN" sz="11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内部接口（同步）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latin typeface="Arial" panose="020B0604020202020204"/>
                          <a:ea typeface="等线" panose="02010600030101010101" charset="-122"/>
                        </a:rPr>
                        <a:t>CXY-INT-005</a:t>
                      </a:r>
                      <a:endParaRPr lang="en-US" altLang="zh-CN" sz="11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退款审核接口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latin typeface="Arial" panose="020B0604020202020204"/>
                          <a:ea typeface="等线" panose="02010600030101010101" charset="-122"/>
                        </a:rPr>
                        <a:t>CXY-CSCI-ADMIN</a:t>
                      </a:r>
                      <a:endParaRPr lang="en-US" altLang="zh-CN" sz="11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latin typeface="Arial" panose="020B0604020202020204"/>
                          <a:ea typeface="等线" panose="02010600030101010101" charset="-122"/>
                        </a:rPr>
                        <a:t>CXY-CSCI-BACKEND</a:t>
                      </a:r>
                      <a:endParaRPr lang="en-US" altLang="zh-CN" sz="11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内部接口（同步）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latin typeface="Arial" panose="020B0604020202020204"/>
                          <a:ea typeface="等线" panose="02010600030101010101" charset="-122"/>
                        </a:rPr>
                        <a:t>CXY-INT-006</a:t>
                      </a:r>
                      <a:endParaRPr lang="en-US" altLang="zh-CN" sz="11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商品库存查询接口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latin typeface="Arial" panose="020B0604020202020204"/>
                          <a:ea typeface="等线" panose="02010600030101010101" charset="-122"/>
                        </a:rPr>
                        <a:t>CXY-CSCI-BACKEND</a:t>
                      </a:r>
                      <a:endParaRPr lang="en-US" altLang="zh-CN" sz="11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100">
                          <a:latin typeface="Arial" panose="020B0604020202020204"/>
                          <a:ea typeface="等线" panose="02010600030101010101" charset="-122"/>
                        </a:rPr>
                        <a:t>CXY-DB-MYSQL</a:t>
                      </a:r>
                      <a:endParaRPr lang="en-US" altLang="zh-CN" sz="11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100">
                          <a:latin typeface="等线" panose="02010600030101010101" charset="-122"/>
                          <a:ea typeface="等线" panose="02010600030101010101" charset="-122"/>
                        </a:rPr>
                        <a:t>内部接口（同步）</a:t>
                      </a:r>
                      <a:endParaRPr lang="zh-CN" sz="11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t" anchorCtr="0">
                    <a:lnL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06-d2t809lnfo2stf9dim70.jpg"/>
          <p:cNvPicPr>
            <a:picLocks noChangeAspect="1"/>
          </p:cNvPicPr>
          <p:nvPr/>
        </p:nvPicPr>
        <p:blipFill>
          <a:blip r:embed="rId1">
            <a:alphaModFix amt="89000"/>
          </a:blip>
          <a:srcRect l="9673" r="9673"/>
          <a:stretch>
            <a:fillRect/>
          </a:stretch>
        </p:blipFill>
        <p:spPr>
          <a:xfrm>
            <a:off x="0" y="1829435"/>
            <a:ext cx="12191365" cy="3262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41203" y="3609975"/>
            <a:ext cx="310896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登录</a:t>
            </a:r>
            <a:r>
              <a:rPr lang="zh-CN" alt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阶段</a:t>
            </a:r>
            <a:endParaRPr lang="zh-CN" altLang="en-US" sz="32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3800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11" name="Image 1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16200000">
            <a:off x="2310130" y="2972435"/>
            <a:ext cx="1301115" cy="97663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5400000" flipH="1">
            <a:off x="8475980" y="2972435"/>
            <a:ext cx="1301115" cy="9766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32-d2t80g5nfo2stf9dimi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7975" y="2064385"/>
            <a:ext cx="4182110" cy="361505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16:32-d2t80g5nfo2stf9dim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035" y="2064385"/>
            <a:ext cx="4157345" cy="3669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34263" y="479263"/>
            <a:ext cx="3049055" cy="606887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 flipH="1">
            <a:off x="11315065" y="981710"/>
            <a:ext cx="78105" cy="7175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6" name="Text 2"/>
          <p:cNvSpPr/>
          <p:nvPr/>
        </p:nvSpPr>
        <p:spPr>
          <a:xfrm>
            <a:off x="11315065" y="98171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 flipH="1">
            <a:off x="11186795" y="981710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8" name="Text 4"/>
          <p:cNvSpPr/>
          <p:nvPr/>
        </p:nvSpPr>
        <p:spPr>
          <a:xfrm>
            <a:off x="11186795" y="98171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 flipH="1">
            <a:off x="11055350" y="981710"/>
            <a:ext cx="78105" cy="7175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0" name="Text 6"/>
          <p:cNvSpPr/>
          <p:nvPr/>
        </p:nvSpPr>
        <p:spPr>
          <a:xfrm>
            <a:off x="11055350" y="98171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 flipH="1">
            <a:off x="10924540" y="981710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2" name="Text 8"/>
          <p:cNvSpPr/>
          <p:nvPr/>
        </p:nvSpPr>
        <p:spPr>
          <a:xfrm>
            <a:off x="10924540" y="98171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42215" y="751061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zh-CN" alt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登录阶段</a:t>
            </a: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事务流与HIPO图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9151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5" name="Shape 11"/>
          <p:cNvSpPr/>
          <p:nvPr/>
        </p:nvSpPr>
        <p:spPr>
          <a:xfrm>
            <a:off x="77978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6" name="Shape 12"/>
          <p:cNvSpPr/>
          <p:nvPr/>
        </p:nvSpPr>
        <p:spPr>
          <a:xfrm>
            <a:off x="867410" y="613473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7" name="Shape 13"/>
          <p:cNvSpPr/>
          <p:nvPr/>
        </p:nvSpPr>
        <p:spPr>
          <a:xfrm>
            <a:off x="95567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8" name="Shape 14"/>
          <p:cNvSpPr/>
          <p:nvPr/>
        </p:nvSpPr>
        <p:spPr>
          <a:xfrm>
            <a:off x="104394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pic>
        <p:nvPicPr>
          <p:cNvPr id="19" name="Image 2" descr="https://kimi-img.moonshot.cn/pub/slides/slides_tmpl/image/25-09-05-14:16:05-d2t809dnfo2stf9dim4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9980" y="5984240"/>
            <a:ext cx="323850" cy="323850"/>
          </a:xfrm>
          <a:prstGeom prst="rect">
            <a:avLst/>
          </a:prstGeom>
        </p:spPr>
      </p:pic>
      <p:pic>
        <p:nvPicPr>
          <p:cNvPr id="20" name="Image 3" descr="https://kimi-img.moonshot.cn/pub/slides/slides_tmpl/image/25-09-05-14:16:31-d2t80ftnfo2stf9dimf0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001963" y="1612265"/>
            <a:ext cx="999490" cy="999490"/>
          </a:xfrm>
          <a:prstGeom prst="rect">
            <a:avLst/>
          </a:prstGeom>
        </p:spPr>
      </p:pic>
      <p:pic>
        <p:nvPicPr>
          <p:cNvPr id="21" name="Image 4" descr="https://kimi-img.moonshot.cn/pub/slides/slides_tmpl/image/25-09-05-14:16:31-d2t80ftnfo2stf9dimf0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320723" y="1612265"/>
            <a:ext cx="999490" cy="99949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3130868" y="1765935"/>
            <a:ext cx="741680" cy="64262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3" name="Text 16"/>
          <p:cNvSpPr/>
          <p:nvPr/>
        </p:nvSpPr>
        <p:spPr>
          <a:xfrm>
            <a:off x="3130868" y="1765935"/>
            <a:ext cx="741680" cy="6426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800" dirty="0">
                <a:solidFill>
                  <a:srgbClr val="276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1628140" y="2686685"/>
            <a:ext cx="3593465" cy="3067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事务流图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1541289" y="3015907"/>
            <a:ext cx="3875101" cy="9600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事务流图清晰呈现商品搜索模块的业务流转，包含输入、处理、输出全环节，覆盖核心场景。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8449628" y="1765935"/>
            <a:ext cx="741680" cy="64262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7" name="Text 20"/>
          <p:cNvSpPr/>
          <p:nvPr/>
        </p:nvSpPr>
        <p:spPr>
          <a:xfrm>
            <a:off x="8449628" y="1765935"/>
            <a:ext cx="741680" cy="6426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800" dirty="0">
                <a:solidFill>
                  <a:srgbClr val="276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6970395" y="2686685"/>
            <a:ext cx="3557270" cy="3067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HIPO图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791870" y="3027337"/>
            <a:ext cx="3875101" cy="9600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HIPO图明确模块的层级关联与数据交互逻辑，分为总体图与详细图两级，标注数据来源与输出目标。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8" name="图片 38" descr="a82aaa3b0c10b81b966aa747bd796ac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799783"/>
            <a:ext cx="5264150" cy="1905635"/>
          </a:xfrm>
          <a:prstGeom prst="rect">
            <a:avLst/>
          </a:prstGeom>
        </p:spPr>
      </p:pic>
      <p:pic>
        <p:nvPicPr>
          <p:cNvPr id="42" name="图片 42" descr="fef68783b54580194a3ba69deccdb2c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188" y="4436428"/>
            <a:ext cx="5258435" cy="1899285"/>
          </a:xfrm>
          <a:prstGeom prst="rect">
            <a:avLst/>
          </a:prstGeom>
        </p:spPr>
      </p:pic>
      <p:pic>
        <p:nvPicPr>
          <p:cNvPr id="43" name="图片 43" descr="aa301b2c63b8f20511eda5346ccea1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310" y="2705418"/>
            <a:ext cx="5264150" cy="19132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576070" y="4387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hipo</a:t>
            </a:r>
            <a:r>
              <a:rPr lang="zh-CN" altLang="en-US"/>
              <a:t>图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79830" y="6330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事务流</a:t>
            </a:r>
            <a:r>
              <a:rPr lang="zh-CN" altLang="en-US"/>
              <a:t>图</a:t>
            </a:r>
            <a:endParaRPr lang="zh-CN" altLang="en-US"/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10" y="1603058"/>
            <a:ext cx="5273040" cy="3448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2205" y="1781810"/>
            <a:ext cx="5265420" cy="3684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06-d2t809lnfo2stf9dim70.jpg"/>
          <p:cNvPicPr>
            <a:picLocks noChangeAspect="1"/>
          </p:cNvPicPr>
          <p:nvPr/>
        </p:nvPicPr>
        <p:blipFill>
          <a:blip r:embed="rId1">
            <a:alphaModFix amt="89000"/>
          </a:blip>
          <a:srcRect l="9673" r="9673"/>
          <a:stretch>
            <a:fillRect/>
          </a:stretch>
        </p:blipFill>
        <p:spPr>
          <a:xfrm>
            <a:off x="0" y="1829435"/>
            <a:ext cx="12191365" cy="3262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41203" y="3609975"/>
            <a:ext cx="3108960" cy="9848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订单生成模块</a:t>
            </a:r>
            <a:r>
              <a:rPr lang="zh-CN" alt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讲解</a:t>
            </a:r>
            <a:endParaRPr lang="zh-CN" altLang="en-US" sz="32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3800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pic>
        <p:nvPicPr>
          <p:cNvPr id="11" name="Image 1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16200000">
            <a:off x="2310130" y="2972435"/>
            <a:ext cx="1301115" cy="97663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5400000" flipH="1">
            <a:off x="8475980" y="2972435"/>
            <a:ext cx="1301115" cy="9766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19-d2t80ctnfo2stf9dimc0.jpg"/>
          <p:cNvPicPr>
            <a:picLocks noChangeAspect="1"/>
          </p:cNvPicPr>
          <p:nvPr/>
        </p:nvPicPr>
        <p:blipFill>
          <a:blip r:embed="rId1">
            <a:alphaModFix amt="89000"/>
          </a:blip>
          <a:srcRect l="9673" r="9673"/>
          <a:stretch>
            <a:fillRect/>
          </a:stretch>
        </p:blipFill>
        <p:spPr>
          <a:xfrm>
            <a:off x="3175" y="-20955"/>
            <a:ext cx="12191365" cy="156527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16:31-d2t80ftnfo2stf9d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" y="1544320"/>
            <a:ext cx="12192635" cy="531431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4:17:00-d2t80n5nfo2stf9dimug.png"/>
          <p:cNvPicPr>
            <a:picLocks noChangeAspect="1"/>
          </p:cNvPicPr>
          <p:nvPr/>
        </p:nvPicPr>
        <p:blipFill>
          <a:blip r:embed="rId3"/>
          <a:srcRect l="22" r="22"/>
          <a:stretch>
            <a:fillRect/>
          </a:stretch>
        </p:blipFill>
        <p:spPr>
          <a:xfrm>
            <a:off x="830284" y="1597989"/>
            <a:ext cx="10819501" cy="4691524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0924640" y="816748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6" name="Text 1"/>
          <p:cNvSpPr/>
          <p:nvPr/>
        </p:nvSpPr>
        <p:spPr>
          <a:xfrm>
            <a:off x="10924640" y="8167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11052814" y="8167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8" name="Text 3"/>
          <p:cNvSpPr/>
          <p:nvPr/>
        </p:nvSpPr>
        <p:spPr>
          <a:xfrm>
            <a:off x="11052814" y="8167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11183828" y="816748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0" name="Text 5"/>
          <p:cNvSpPr/>
          <p:nvPr/>
        </p:nvSpPr>
        <p:spPr>
          <a:xfrm>
            <a:off x="11183828" y="8167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11314843" y="8167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2" name="Text 7"/>
          <p:cNvSpPr/>
          <p:nvPr/>
        </p:nvSpPr>
        <p:spPr>
          <a:xfrm>
            <a:off x="11314843" y="8167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42215" y="598026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订单生成</a:t>
            </a:r>
            <a:r>
              <a:rPr lang="zh-CN" alt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</a:t>
            </a:r>
            <a:r>
              <a:rPr lang="zh-CN" alt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讲解</a:t>
            </a:r>
            <a:endParaRPr lang="zh-CN" altLang="en-US" sz="36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691515" y="6054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5" name="Shape 10"/>
          <p:cNvSpPr/>
          <p:nvPr/>
        </p:nvSpPr>
        <p:spPr>
          <a:xfrm>
            <a:off x="779780" y="6054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6" name="Shape 11"/>
          <p:cNvSpPr/>
          <p:nvPr/>
        </p:nvSpPr>
        <p:spPr>
          <a:xfrm>
            <a:off x="867410" y="600773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7" name="Shape 12"/>
          <p:cNvSpPr/>
          <p:nvPr/>
        </p:nvSpPr>
        <p:spPr>
          <a:xfrm>
            <a:off x="955675" y="6054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8" name="Shape 13"/>
          <p:cNvSpPr/>
          <p:nvPr/>
        </p:nvSpPr>
        <p:spPr>
          <a:xfrm>
            <a:off x="1043940" y="6054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pic>
        <p:nvPicPr>
          <p:cNvPr id="19" name="Image 3" descr="https://kimi-img.moonshot.cn/pub/slides/slides_tmpl/image/25-09-05-14:17:02-d2t80nlnfo2stf9dimv0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72380" y="2784475"/>
            <a:ext cx="2090420" cy="2090420"/>
          </a:xfrm>
          <a:prstGeom prst="rect">
            <a:avLst/>
          </a:prstGeom>
        </p:spPr>
      </p:pic>
      <p:pic>
        <p:nvPicPr>
          <p:cNvPr id="20" name="Image 4" descr="https://kimi-img.moonshot.cn/pub/slides/slides_tmpl/image/25-09-05-14:17:03-d2t80ntnfo2stf9dimvg.png"/>
          <p:cNvPicPr>
            <a:picLocks noChangeAspect="1"/>
          </p:cNvPicPr>
          <p:nvPr/>
        </p:nvPicPr>
        <p:blipFill>
          <a:blip r:embed="rId5">
            <a:alphaModFix amt="89000"/>
          </a:blip>
          <a:srcRect l="9673" r="9673"/>
          <a:stretch>
            <a:fillRect/>
          </a:stretch>
        </p:blipFill>
        <p:spPr>
          <a:xfrm>
            <a:off x="3175" y="6457315"/>
            <a:ext cx="12191365" cy="40830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76531" y="1697315"/>
            <a:ext cx="3429709" cy="2845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6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NS图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63021" y="2061564"/>
            <a:ext cx="4329926" cy="545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NS图通过盒图结构清晰呈现订单生成的逻辑流程，无跳转语句，逻辑闭环。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776531" y="4178260"/>
            <a:ext cx="3429709" cy="2845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6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Jackson图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63021" y="4531079"/>
            <a:ext cx="4329926" cy="545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Jackson图按输入-处理-输出三层结构拆分模块逻辑，层次分明，便于开发人员理解。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268291" y="1697188"/>
            <a:ext cx="3429709" cy="2845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6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PAD图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7164786" y="2062072"/>
            <a:ext cx="4329926" cy="545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PAD图采用自上而下逐步细化的方式，直观呈现订单生成的执行流程，逻辑流向一目了然。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7268291" y="4175466"/>
            <a:ext cx="3429709" cy="2845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6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伪代码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7164786" y="4531460"/>
            <a:ext cx="4329926" cy="545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伪代码采用结构化语法，明确描述订单生成的完整逻辑，包含事务处理、数据查询等核心操作。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66445" y="57848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ns</a:t>
            </a:r>
            <a:r>
              <a:rPr lang="zh-CN" altLang="en-US" sz="4000"/>
              <a:t>图</a:t>
            </a:r>
            <a:endParaRPr lang="zh-CN" altLang="en-US" sz="4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785" y="578168"/>
            <a:ext cx="5726430" cy="5701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18160" y="417830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pad</a:t>
            </a:r>
            <a:r>
              <a:rPr lang="zh-CN" altLang="en-US" sz="4000"/>
              <a:t>图</a:t>
            </a:r>
            <a:endParaRPr lang="zh-CN" altLang="en-US" sz="4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6205" y="0"/>
            <a:ext cx="454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18160" y="417830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jackson</a:t>
            </a:r>
            <a:r>
              <a:rPr lang="zh-CN" altLang="en-US" sz="4000"/>
              <a:t>图</a:t>
            </a:r>
            <a:endParaRPr lang="zh-CN" altLang="en-US" sz="4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309880"/>
            <a:ext cx="5727700" cy="6238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552575" y="182245"/>
            <a:ext cx="9647555" cy="6323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/>
              <a:t>PROCEDURE </a:t>
            </a:r>
            <a:r>
              <a:rPr lang="zh-CN" altLang="en-US" sz="800"/>
              <a:t>订单生成</a:t>
            </a:r>
            <a:r>
              <a:rPr lang="en-US" altLang="zh-CN" sz="800"/>
              <a:t>()</a:t>
            </a:r>
            <a:endParaRPr lang="en-US" altLang="zh-CN" sz="800"/>
          </a:p>
          <a:p>
            <a:r>
              <a:rPr lang="en-US" altLang="zh-CN" sz="800"/>
              <a:t>    // </a:t>
            </a:r>
            <a:r>
              <a:rPr lang="zh-CN" altLang="en-US" sz="800"/>
              <a:t>输入：</a:t>
            </a:r>
            <a:r>
              <a:rPr lang="en-US" altLang="zh-CN" sz="800"/>
              <a:t>3.2.1</a:t>
            </a:r>
            <a:r>
              <a:rPr lang="zh-CN" altLang="en-US" sz="800"/>
              <a:t>确认收货地址</a:t>
            </a:r>
            <a:r>
              <a:rPr lang="en-US" altLang="en-US" sz="800"/>
              <a:t>→</a:t>
            </a:r>
            <a:r>
              <a:rPr lang="zh-CN" altLang="en-US" sz="800"/>
              <a:t>选中</a:t>
            </a:r>
            <a:r>
              <a:rPr lang="en-US" altLang="zh-CN" sz="800"/>
              <a:t>3.1</a:t>
            </a:r>
            <a:r>
              <a:rPr lang="zh-CN" altLang="en-US" sz="800"/>
              <a:t>中新增</a:t>
            </a:r>
            <a:r>
              <a:rPr lang="en-US" altLang="zh-CN" sz="800"/>
              <a:t>/</a:t>
            </a:r>
            <a:r>
              <a:rPr lang="zh-CN" altLang="en-US" sz="800"/>
              <a:t>已存地址</a:t>
            </a:r>
            <a:endParaRPr lang="zh-CN" altLang="en-US" sz="800"/>
          </a:p>
          <a:p>
            <a:r>
              <a:rPr lang="en-US" altLang="zh-CN" sz="800"/>
              <a:t>    </a:t>
            </a:r>
            <a:r>
              <a:rPr lang="zh-CN" altLang="en-US" sz="800"/>
              <a:t>接收</a:t>
            </a:r>
            <a:r>
              <a:rPr lang="en-US" altLang="zh-CN" sz="800"/>
              <a:t>addressId</a:t>
            </a:r>
            <a:r>
              <a:rPr lang="zh-CN" altLang="en-US" sz="800"/>
              <a:t>、</a:t>
            </a:r>
            <a:r>
              <a:rPr lang="en-US" altLang="zh-CN" sz="800"/>
              <a:t>userId</a:t>
            </a:r>
            <a:r>
              <a:rPr lang="zh-CN" altLang="en-US" sz="800"/>
              <a:t>参数</a:t>
            </a:r>
            <a:endParaRPr lang="zh-CN" altLang="en-US" sz="800"/>
          </a:p>
          <a:p>
            <a:r>
              <a:rPr lang="en-US" altLang="zh-CN" sz="800"/>
              <a:t>    // </a:t>
            </a:r>
            <a:r>
              <a:rPr lang="zh-CN" altLang="en-US" sz="800"/>
              <a:t>开启数据库事务</a:t>
            </a:r>
            <a:endParaRPr lang="zh-CN" altLang="en-US" sz="800"/>
          </a:p>
          <a:p>
            <a:r>
              <a:rPr lang="en-US" altLang="zh-CN" sz="800"/>
              <a:t>    BEGIN TRANSACTION</a:t>
            </a:r>
            <a:endParaRPr lang="en-US" altLang="zh-CN" sz="800"/>
          </a:p>
          <a:p>
            <a:r>
              <a:rPr lang="en-US" altLang="zh-CN" sz="800"/>
              <a:t>    </a:t>
            </a:r>
            <a:r>
              <a:rPr lang="zh-CN" altLang="en-US" sz="800"/>
              <a:t>订单创建标志</a:t>
            </a:r>
            <a:r>
              <a:rPr lang="en-US" altLang="zh-CN" sz="800"/>
              <a:t> = TRUE</a:t>
            </a:r>
            <a:endParaRPr lang="en-US" altLang="zh-CN" sz="800"/>
          </a:p>
          <a:p>
            <a:r>
              <a:rPr lang="en-US" altLang="zh-CN" sz="800"/>
              <a:t>    // </a:t>
            </a:r>
            <a:r>
              <a:rPr lang="zh-CN" altLang="en-US" sz="800"/>
              <a:t>查询用户购物车数据</a:t>
            </a:r>
            <a:endParaRPr lang="zh-CN" altLang="en-US" sz="800"/>
          </a:p>
          <a:p>
            <a:r>
              <a:rPr lang="en-US" altLang="zh-CN" sz="800"/>
              <a:t>    SELECT c.goods_id, c.quantity, g.price, g.stock, g.name</a:t>
            </a:r>
            <a:endParaRPr lang="en-US" altLang="zh-CN" sz="800"/>
          </a:p>
          <a:p>
            <a:r>
              <a:rPr lang="en-US" altLang="zh-CN" sz="800"/>
              <a:t>    FROM cart_table c</a:t>
            </a:r>
            <a:endParaRPr lang="en-US" altLang="zh-CN" sz="800"/>
          </a:p>
          <a:p>
            <a:r>
              <a:rPr lang="en-US" altLang="zh-CN" sz="800"/>
              <a:t>    LEFT JOIN goods_table g ON c.goods_id = g.goods_id</a:t>
            </a:r>
            <a:endParaRPr lang="en-US" altLang="zh-CN" sz="800"/>
          </a:p>
          <a:p>
            <a:r>
              <a:rPr lang="en-US" altLang="zh-CN" sz="800"/>
              <a:t>    WHERE c.user_id = userId</a:t>
            </a:r>
            <a:endParaRPr lang="en-US" altLang="zh-CN" sz="800"/>
          </a:p>
          <a:p>
            <a:r>
              <a:rPr lang="en-US" altLang="zh-CN" sz="800"/>
              <a:t>    IF </a:t>
            </a:r>
            <a:r>
              <a:rPr lang="zh-CN" altLang="en-US" sz="800"/>
              <a:t>查询结果为空</a:t>
            </a:r>
            <a:r>
              <a:rPr lang="en-US" altLang="zh-CN" sz="800"/>
              <a:t> THEN</a:t>
            </a:r>
            <a:endParaRPr lang="en-US" altLang="zh-CN" sz="800"/>
          </a:p>
          <a:p>
            <a:r>
              <a:rPr lang="en-US" altLang="zh-CN" sz="800"/>
              <a:t>        </a:t>
            </a:r>
            <a:r>
              <a:rPr lang="zh-CN" altLang="en-US" sz="800"/>
              <a:t>订单创建标志</a:t>
            </a:r>
            <a:r>
              <a:rPr lang="en-US" altLang="zh-CN" sz="800"/>
              <a:t> = FALSE</a:t>
            </a:r>
            <a:endParaRPr lang="en-US" altLang="zh-CN" sz="800"/>
          </a:p>
          <a:p>
            <a:r>
              <a:rPr lang="en-US" altLang="zh-CN" sz="800"/>
              <a:t>        ROLLBACK TRANSACTION</a:t>
            </a:r>
            <a:endParaRPr lang="en-US" altLang="zh-CN" sz="800"/>
          </a:p>
          <a:p>
            <a:r>
              <a:rPr lang="en-US" altLang="zh-CN" sz="800"/>
              <a:t>        </a:t>
            </a:r>
            <a:r>
              <a:rPr lang="zh-CN" altLang="en-US" sz="800"/>
              <a:t>输出：</a:t>
            </a:r>
            <a:r>
              <a:rPr lang="en-US" altLang="zh-CN" sz="800"/>
              <a:t>{status: "fail", message: "</a:t>
            </a:r>
            <a:r>
              <a:rPr lang="zh-CN" altLang="en-US" sz="800"/>
              <a:t>操作失败</a:t>
            </a:r>
            <a:r>
              <a:rPr lang="en-US" altLang="zh-CN" sz="800"/>
              <a:t>-</a:t>
            </a:r>
            <a:r>
              <a:rPr lang="zh-CN" altLang="en-US" sz="800"/>
              <a:t>购物车为空，无法下单</a:t>
            </a:r>
            <a:r>
              <a:rPr lang="en-US" altLang="zh-CN" sz="800"/>
              <a:t>"}</a:t>
            </a:r>
            <a:endParaRPr lang="en-US" altLang="zh-CN" sz="800"/>
          </a:p>
          <a:p>
            <a:r>
              <a:rPr lang="en-US" altLang="zh-CN" sz="800"/>
              <a:t>        RETURN</a:t>
            </a:r>
            <a:endParaRPr lang="en-US" altLang="zh-CN" sz="800"/>
          </a:p>
          <a:p>
            <a:r>
              <a:rPr lang="en-US" altLang="zh-CN" sz="800"/>
              <a:t>    ENDIF</a:t>
            </a:r>
            <a:endParaRPr lang="en-US" altLang="zh-CN" sz="800"/>
          </a:p>
          <a:p>
            <a:r>
              <a:rPr lang="en-US" altLang="zh-CN" sz="800"/>
              <a:t>    // </a:t>
            </a:r>
            <a:r>
              <a:rPr lang="zh-CN" altLang="en-US" sz="800"/>
              <a:t>组装商品列表与总金额</a:t>
            </a:r>
            <a:endParaRPr lang="zh-CN" altLang="en-US" sz="800"/>
          </a:p>
          <a:p>
            <a:r>
              <a:rPr lang="en-US" altLang="zh-CN" sz="800"/>
              <a:t>    goods_list = []</a:t>
            </a:r>
            <a:endParaRPr lang="en-US" altLang="zh-CN" sz="800"/>
          </a:p>
          <a:p>
            <a:r>
              <a:rPr lang="en-US" altLang="zh-CN" sz="800"/>
              <a:t>    total_amount = 0</a:t>
            </a:r>
            <a:endParaRPr lang="en-US" altLang="zh-CN" sz="800"/>
          </a:p>
          <a:p>
            <a:r>
              <a:rPr lang="en-US" altLang="zh-CN" sz="800"/>
              <a:t>    FOR EACH </a:t>
            </a:r>
            <a:r>
              <a:rPr lang="zh-CN" altLang="en-US" sz="800"/>
              <a:t>购物车记录</a:t>
            </a:r>
            <a:r>
              <a:rPr lang="en-US" altLang="zh-CN" sz="800"/>
              <a:t> IN </a:t>
            </a:r>
            <a:r>
              <a:rPr lang="zh-CN" altLang="en-US" sz="800"/>
              <a:t>查询结果</a:t>
            </a:r>
            <a:endParaRPr lang="zh-CN" altLang="en-US" sz="800"/>
          </a:p>
          <a:p>
            <a:r>
              <a:rPr lang="en-US" altLang="zh-CN" sz="800"/>
              <a:t>        goods_id = </a:t>
            </a:r>
            <a:r>
              <a:rPr lang="zh-CN" altLang="en-US" sz="800"/>
              <a:t>购物车记录</a:t>
            </a:r>
            <a:r>
              <a:rPr lang="en-US" altLang="zh-CN" sz="800"/>
              <a:t>.goods_id</a:t>
            </a:r>
            <a:endParaRPr lang="en-US" altLang="zh-CN" sz="800"/>
          </a:p>
          <a:p>
            <a:r>
              <a:rPr lang="en-US" altLang="zh-CN" sz="800"/>
              <a:t>        quantity = </a:t>
            </a:r>
            <a:r>
              <a:rPr lang="zh-CN" altLang="en-US" sz="800"/>
              <a:t>购物车记录</a:t>
            </a:r>
            <a:r>
              <a:rPr lang="en-US" altLang="zh-CN" sz="800"/>
              <a:t>.quantity</a:t>
            </a:r>
            <a:endParaRPr lang="en-US" altLang="zh-CN" sz="800"/>
          </a:p>
          <a:p>
            <a:r>
              <a:rPr lang="en-US" altLang="zh-CN" sz="800"/>
              <a:t>        price = </a:t>
            </a:r>
            <a:r>
              <a:rPr lang="zh-CN" altLang="en-US" sz="800"/>
              <a:t>购物车记录</a:t>
            </a:r>
            <a:r>
              <a:rPr lang="en-US" altLang="zh-CN" sz="800"/>
              <a:t>.price</a:t>
            </a:r>
            <a:endParaRPr lang="en-US" altLang="zh-CN" sz="800"/>
          </a:p>
          <a:p>
            <a:r>
              <a:rPr lang="en-US" altLang="zh-CN" sz="800"/>
              <a:t>        stock = </a:t>
            </a:r>
            <a:r>
              <a:rPr lang="zh-CN" altLang="en-US" sz="800"/>
              <a:t>购物车记录</a:t>
            </a:r>
            <a:r>
              <a:rPr lang="en-US" altLang="zh-CN" sz="800"/>
              <a:t>.stock</a:t>
            </a:r>
            <a:endParaRPr lang="en-US" altLang="zh-CN" sz="800"/>
          </a:p>
          <a:p>
            <a:r>
              <a:rPr lang="en-US" altLang="zh-CN" sz="800"/>
              <a:t>        goods_name = </a:t>
            </a:r>
            <a:r>
              <a:rPr lang="zh-CN" altLang="en-US" sz="800"/>
              <a:t>购物车记录</a:t>
            </a:r>
            <a:r>
              <a:rPr lang="en-US" altLang="zh-CN" sz="800"/>
              <a:t>.name</a:t>
            </a:r>
            <a:endParaRPr lang="en-US" altLang="zh-CN" sz="800"/>
          </a:p>
          <a:p>
            <a:r>
              <a:rPr lang="en-US" altLang="zh-CN" sz="800"/>
              <a:t>        // </a:t>
            </a:r>
            <a:r>
              <a:rPr lang="zh-CN" altLang="en-US" sz="800"/>
              <a:t>校验库存</a:t>
            </a:r>
            <a:endParaRPr lang="zh-CN" altLang="en-US" sz="800"/>
          </a:p>
          <a:p>
            <a:r>
              <a:rPr lang="en-US" altLang="zh-CN" sz="800"/>
              <a:t>        IF quantity &gt; stock THEN</a:t>
            </a:r>
            <a:endParaRPr lang="en-US" altLang="zh-CN" sz="800"/>
          </a:p>
          <a:p>
            <a:r>
              <a:rPr lang="en-US" altLang="zh-CN" sz="800"/>
              <a:t>            </a:t>
            </a:r>
            <a:r>
              <a:rPr lang="zh-CN" altLang="en-US" sz="800"/>
              <a:t>订单创建标志</a:t>
            </a:r>
            <a:r>
              <a:rPr lang="en-US" altLang="zh-CN" sz="800"/>
              <a:t> = FALSE</a:t>
            </a:r>
            <a:endParaRPr lang="en-US" altLang="zh-CN" sz="800"/>
          </a:p>
          <a:p>
            <a:r>
              <a:rPr lang="en-US" altLang="zh-CN" sz="800"/>
              <a:t>            ROLLBACK TRANSACTION</a:t>
            </a:r>
            <a:endParaRPr lang="en-US" altLang="zh-CN" sz="800"/>
          </a:p>
          <a:p>
            <a:r>
              <a:rPr lang="en-US" altLang="zh-CN" sz="800"/>
              <a:t>            </a:t>
            </a:r>
            <a:r>
              <a:rPr lang="zh-CN" altLang="en-US" sz="800"/>
              <a:t>输出：</a:t>
            </a:r>
            <a:r>
              <a:rPr lang="en-US" altLang="zh-CN" sz="800"/>
              <a:t>{status: "fail", message: "</a:t>
            </a:r>
            <a:r>
              <a:rPr lang="zh-CN" altLang="en-US" sz="800"/>
              <a:t>操作失败</a:t>
            </a:r>
            <a:r>
              <a:rPr lang="en-US" altLang="zh-CN" sz="800"/>
              <a:t>-</a:t>
            </a:r>
            <a:r>
              <a:rPr lang="zh-CN" altLang="en-US" sz="800"/>
              <a:t>库存不足：</a:t>
            </a:r>
            <a:r>
              <a:rPr lang="en-US" altLang="zh-CN" sz="800"/>
              <a:t>"+goods_name+"</a:t>
            </a:r>
            <a:r>
              <a:rPr lang="zh-CN" altLang="en-US" sz="800"/>
              <a:t>库存仅</a:t>
            </a:r>
            <a:r>
              <a:rPr lang="en-US" altLang="zh-CN" sz="800"/>
              <a:t>"+stock+"</a:t>
            </a:r>
            <a:r>
              <a:rPr lang="zh-CN" altLang="en-US" sz="800"/>
              <a:t>件</a:t>
            </a:r>
            <a:r>
              <a:rPr lang="en-US" altLang="zh-CN" sz="800"/>
              <a:t>"}</a:t>
            </a:r>
            <a:endParaRPr lang="en-US" altLang="zh-CN" sz="800"/>
          </a:p>
          <a:p>
            <a:r>
              <a:rPr lang="en-US" altLang="zh-CN" sz="800"/>
              <a:t>            RETURN</a:t>
            </a:r>
            <a:endParaRPr lang="en-US" altLang="zh-CN" sz="800"/>
          </a:p>
          <a:p>
            <a:r>
              <a:rPr lang="en-US" altLang="zh-CN" sz="800"/>
              <a:t>        ENDIF</a:t>
            </a:r>
            <a:endParaRPr lang="en-US" altLang="zh-CN" sz="800"/>
          </a:p>
          <a:p>
            <a:r>
              <a:rPr lang="en-US" altLang="zh-CN" sz="800"/>
              <a:t>        // </a:t>
            </a:r>
            <a:r>
              <a:rPr lang="zh-CN" altLang="en-US" sz="800"/>
              <a:t>累加总金额</a:t>
            </a:r>
            <a:endParaRPr lang="zh-CN" altLang="en-US" sz="800"/>
          </a:p>
          <a:p>
            <a:r>
              <a:rPr lang="en-US" altLang="zh-CN" sz="800"/>
              <a:t>        total_amount = total_amount + (price * quantity)</a:t>
            </a:r>
            <a:endParaRPr lang="en-US" altLang="zh-CN" sz="800"/>
          </a:p>
          <a:p>
            <a:r>
              <a:rPr lang="en-US" altLang="zh-CN" sz="800"/>
              <a:t>        // </a:t>
            </a:r>
            <a:r>
              <a:rPr lang="zh-CN" altLang="en-US" sz="800"/>
              <a:t>添加商品列表</a:t>
            </a:r>
            <a:endParaRPr lang="zh-CN" altLang="en-US" sz="800"/>
          </a:p>
          <a:p>
            <a:r>
              <a:rPr lang="en-US" altLang="zh-CN" sz="800"/>
              <a:t>        goods_list.</a:t>
            </a:r>
            <a:r>
              <a:rPr lang="zh-CN" altLang="en-US" sz="800"/>
              <a:t>添加</a:t>
            </a:r>
            <a:r>
              <a:rPr lang="en-US" altLang="zh-CN" sz="800"/>
              <a:t>({goods_id: goods_id, quantity: quantity, price: price, name: goods_name})</a:t>
            </a:r>
            <a:endParaRPr lang="en-US" altLang="zh-CN" sz="800"/>
          </a:p>
          <a:p>
            <a:r>
              <a:rPr lang="en-US" altLang="zh-CN" sz="800"/>
              <a:t>        // </a:t>
            </a:r>
            <a:r>
              <a:rPr lang="zh-CN" altLang="en-US" sz="800"/>
              <a:t>锁定库存（扣减库存）</a:t>
            </a:r>
            <a:endParaRPr lang="zh-CN" altLang="en-US" sz="800"/>
          </a:p>
          <a:p>
            <a:r>
              <a:rPr lang="en-US" altLang="zh-CN" sz="800"/>
              <a:t>        UPDATE goods_table SET stock = stock - quantity WHERE goods_id = goods_id</a:t>
            </a:r>
            <a:endParaRPr lang="en-US" altLang="zh-CN" sz="800"/>
          </a:p>
          <a:p>
            <a:r>
              <a:rPr lang="en-US" altLang="zh-CN" sz="800"/>
              <a:t>    ENDFOR</a:t>
            </a:r>
            <a:endParaRPr lang="en-US" altLang="zh-CN" sz="800"/>
          </a:p>
          <a:p>
            <a:r>
              <a:rPr lang="en-US" altLang="zh-CN" sz="800"/>
              <a:t>    // </a:t>
            </a:r>
            <a:r>
              <a:rPr lang="zh-CN" altLang="en-US" sz="800"/>
              <a:t>生成唯一订单号（格式：</a:t>
            </a:r>
            <a:r>
              <a:rPr lang="en-US" altLang="zh-CN" sz="800"/>
              <a:t>CXY+</a:t>
            </a:r>
            <a:r>
              <a:rPr lang="zh-CN" altLang="en-US" sz="800"/>
              <a:t>日期</a:t>
            </a:r>
            <a:r>
              <a:rPr lang="en-US" altLang="zh-CN" sz="800"/>
              <a:t>+6</a:t>
            </a:r>
            <a:r>
              <a:rPr lang="zh-CN" altLang="en-US" sz="800"/>
              <a:t>位随机数）</a:t>
            </a:r>
            <a:endParaRPr lang="zh-CN" altLang="en-US" sz="800"/>
          </a:p>
          <a:p>
            <a:r>
              <a:rPr lang="en-US" altLang="zh-CN" sz="800"/>
              <a:t>    order_id = "CXY" + FORMAT(CURRENT_DATE, "YYYYMMDD") + RANDOM(6)</a:t>
            </a:r>
            <a:endParaRPr lang="en-US" altLang="zh-CN" sz="800"/>
          </a:p>
          <a:p>
            <a:r>
              <a:rPr lang="en-US" altLang="zh-CN" sz="800"/>
              <a:t>    // </a:t>
            </a:r>
            <a:r>
              <a:rPr lang="zh-CN" altLang="en-US" sz="800"/>
              <a:t>插入订单记录（初始状态待支付，退款状态无退款）</a:t>
            </a:r>
            <a:endParaRPr lang="zh-CN" altLang="en-US" sz="800"/>
          </a:p>
          <a:p>
            <a:r>
              <a:rPr lang="en-US" altLang="zh-CN" sz="800"/>
              <a:t>    INSERT INTO order_table(order_id, user_id, goods_list, total_amount, address_id, status, create_time, refund_status)</a:t>
            </a:r>
            <a:endParaRPr lang="en-US" altLang="zh-CN" sz="800"/>
          </a:p>
          <a:p>
            <a:r>
              <a:rPr lang="en-US" altLang="zh-CN" sz="800"/>
              <a:t>    VALUES(order_id, userId, JSON(goods_list), total_amount, addressId, 0, CURRENT_TIMESTAMP, 0)</a:t>
            </a:r>
            <a:endParaRPr lang="en-US" altLang="zh-CN" sz="800"/>
          </a:p>
          <a:p>
            <a:r>
              <a:rPr lang="en-US" altLang="zh-CN" sz="800"/>
              <a:t>    // </a:t>
            </a:r>
            <a:r>
              <a:rPr lang="zh-CN" altLang="en-US" sz="800"/>
              <a:t>清空购物车</a:t>
            </a:r>
            <a:endParaRPr lang="zh-CN" altLang="en-US" sz="800"/>
          </a:p>
          <a:p>
            <a:r>
              <a:rPr lang="en-US" altLang="zh-CN" sz="800"/>
              <a:t>    DELETE FROM cart_table WHERE user_id = userId</a:t>
            </a:r>
            <a:endParaRPr lang="en-US" altLang="zh-CN" sz="800"/>
          </a:p>
          <a:p>
            <a:r>
              <a:rPr lang="en-US" altLang="zh-CN" sz="800"/>
              <a:t>    // </a:t>
            </a:r>
            <a:r>
              <a:rPr lang="zh-CN" altLang="en-US" sz="800"/>
              <a:t>提交事务</a:t>
            </a:r>
            <a:endParaRPr lang="zh-CN" altLang="en-US" sz="800"/>
          </a:p>
          <a:p>
            <a:r>
              <a:rPr lang="en-US" altLang="zh-CN" sz="800"/>
              <a:t>    COMMIT TRANSACTION</a:t>
            </a:r>
            <a:endParaRPr lang="en-US" altLang="zh-CN" sz="800"/>
          </a:p>
          <a:p>
            <a:r>
              <a:rPr lang="en-US" altLang="zh-CN" sz="800"/>
              <a:t>    </a:t>
            </a:r>
            <a:r>
              <a:rPr lang="zh-CN" altLang="en-US" sz="800"/>
              <a:t>输出：</a:t>
            </a:r>
            <a:r>
              <a:rPr lang="en-US" altLang="zh-CN" sz="800"/>
              <a:t>{status: "success", message: "</a:t>
            </a:r>
            <a:r>
              <a:rPr lang="zh-CN" altLang="en-US" sz="800"/>
              <a:t>提交成功</a:t>
            </a:r>
            <a:r>
              <a:rPr lang="en-US" altLang="zh-CN" sz="800"/>
              <a:t>-</a:t>
            </a:r>
            <a:r>
              <a:rPr lang="zh-CN" altLang="en-US" sz="800"/>
              <a:t>跳转至支付页面</a:t>
            </a:r>
            <a:r>
              <a:rPr lang="en-US" altLang="zh-CN" sz="800"/>
              <a:t>", data: {orderId: order_id}}</a:t>
            </a:r>
            <a:endParaRPr lang="en-US" altLang="zh-CN" sz="800"/>
          </a:p>
          <a:p>
            <a:r>
              <a:rPr lang="en-US" altLang="zh-CN" sz="800"/>
              <a:t>ENDPROCEDURE</a:t>
            </a:r>
            <a:endParaRPr lang="zh-CN" altLang="en-US" sz="800"/>
          </a:p>
        </p:txBody>
      </p:sp>
      <p:sp>
        <p:nvSpPr>
          <p:cNvPr id="5" name="文本框 4"/>
          <p:cNvSpPr txBox="1"/>
          <p:nvPr/>
        </p:nvSpPr>
        <p:spPr>
          <a:xfrm>
            <a:off x="247650" y="39243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伪代码</a:t>
            </a:r>
            <a:endParaRPr lang="zh-CN" altLang="en-US"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47-d2t80jtnfo2stf9dimn0.jpg"/>
          <p:cNvPicPr>
            <a:picLocks noChangeAspect="1"/>
          </p:cNvPicPr>
          <p:nvPr/>
        </p:nvPicPr>
        <p:blipFill>
          <a:blip r:embed="rId1">
            <a:alphaModFix amt="40000"/>
          </a:blip>
          <a:srcRect t="15150" b="15150"/>
          <a:stretch>
            <a:fillRect/>
          </a:stretch>
        </p:blipFill>
        <p:spPr>
          <a:xfrm>
            <a:off x="-24130" y="0"/>
            <a:ext cx="9839325" cy="685863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16:06-d2t809lnfo2stf9dim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275" y="0"/>
            <a:ext cx="6689725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1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2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Text 5"/>
          <p:cNvSpPr/>
          <p:nvPr/>
        </p:nvSpPr>
        <p:spPr>
          <a:xfrm>
            <a:off x="628650" y="1021080"/>
            <a:ext cx="5202555" cy="12865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参考文献</a:t>
            </a:r>
            <a:endParaRPr lang="en-US" sz="1600" dirty="0"/>
          </a:p>
        </p:txBody>
      </p:sp>
      <p:pic>
        <p:nvPicPr>
          <p:cNvPr id="10" name="Image 2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8514080" y="1424305"/>
            <a:ext cx="1301115" cy="9766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31710" y="549275"/>
            <a:ext cx="3790950" cy="3067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参考文献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830060" y="1019810"/>
            <a:ext cx="4492625" cy="466534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altLang="zh-CN" sz="1600" dirty="0"/>
              <a:t>1.GB/T 8567-2006</a:t>
            </a:r>
            <a:r>
              <a:rPr lang="zh-CN" altLang="en-US" sz="1600" dirty="0"/>
              <a:t>《计算机软件文档编制规范》</a:t>
            </a:r>
            <a:endParaRPr lang="zh-CN" altLang="en-US" sz="1600" dirty="0"/>
          </a:p>
          <a:p>
            <a:pPr algn="just">
              <a:lnSpc>
                <a:spcPct val="150000"/>
              </a:lnSpc>
            </a:pPr>
            <a:r>
              <a:rPr lang="en-US" altLang="zh-CN" sz="1600" dirty="0"/>
              <a:t>2.</a:t>
            </a:r>
            <a:r>
              <a:rPr lang="zh-CN" altLang="en-US" sz="1600" dirty="0"/>
              <a:t>《微信小程序平台运营规范》（腾讯公司，</a:t>
            </a:r>
            <a:r>
              <a:rPr lang="en-US" altLang="zh-CN" sz="1600" dirty="0"/>
              <a:t>2025 </a:t>
            </a:r>
            <a:r>
              <a:rPr lang="zh-CN" altLang="en-US" sz="1600" dirty="0"/>
              <a:t>最新版）</a:t>
            </a:r>
            <a:endParaRPr lang="zh-CN" altLang="en-US" sz="1600" dirty="0"/>
          </a:p>
          <a:p>
            <a:pPr algn="just">
              <a:lnSpc>
                <a:spcPct val="150000"/>
              </a:lnSpc>
            </a:pPr>
            <a:r>
              <a:rPr lang="en-US" altLang="zh-CN" sz="1600" dirty="0"/>
              <a:t>3.</a:t>
            </a:r>
            <a:r>
              <a:rPr lang="zh-CN" altLang="en-US" sz="1600" dirty="0"/>
              <a:t>《</a:t>
            </a:r>
            <a:r>
              <a:rPr lang="en-US" altLang="zh-CN" sz="1600" dirty="0"/>
              <a:t>MySQL 8.0 Reference Manual</a:t>
            </a:r>
            <a:r>
              <a:rPr lang="zh-CN" altLang="en-US" sz="1600" dirty="0"/>
              <a:t>》（</a:t>
            </a:r>
            <a:r>
              <a:rPr lang="en-US" altLang="zh-CN" sz="1600" dirty="0"/>
              <a:t>Oracle </a:t>
            </a:r>
            <a:r>
              <a:rPr lang="zh-CN" altLang="en-US" sz="1600" dirty="0"/>
              <a:t>公司，</a:t>
            </a:r>
            <a:r>
              <a:rPr lang="en-US" altLang="zh-CN" sz="1600" dirty="0"/>
              <a:t>2025 </a:t>
            </a:r>
            <a:r>
              <a:rPr lang="zh-CN" altLang="en-US" sz="1600" dirty="0"/>
              <a:t>版）</a:t>
            </a:r>
            <a:endParaRPr lang="zh-CN" altLang="en-US" sz="1600" dirty="0"/>
          </a:p>
          <a:p>
            <a:pPr algn="just">
              <a:lnSpc>
                <a:spcPct val="150000"/>
              </a:lnSpc>
            </a:pPr>
            <a:r>
              <a:rPr lang="en-US" altLang="zh-CN" sz="1600" dirty="0"/>
              <a:t>4.</a:t>
            </a:r>
            <a:r>
              <a:rPr lang="zh-CN" altLang="en-US" sz="1600" dirty="0"/>
              <a:t>《</a:t>
            </a:r>
            <a:r>
              <a:rPr lang="en-US" altLang="zh-CN" sz="1600" dirty="0"/>
              <a:t>Taro3 </a:t>
            </a:r>
            <a:r>
              <a:rPr lang="zh-CN" altLang="en-US" sz="1600" dirty="0"/>
              <a:t>微信小程序适配指南》（京东科技，版本</a:t>
            </a:r>
            <a:r>
              <a:rPr lang="en-US" altLang="zh-CN" sz="1600" dirty="0"/>
              <a:t> 3.6.12</a:t>
            </a:r>
            <a:r>
              <a:rPr lang="zh-CN" altLang="en-US" sz="1600" dirty="0"/>
              <a:t>）</a:t>
            </a:r>
            <a:endParaRPr lang="zh-CN" altLang="en-US" sz="1600" dirty="0"/>
          </a:p>
          <a:p>
            <a:pPr algn="just">
              <a:lnSpc>
                <a:spcPct val="150000"/>
              </a:lnSpc>
            </a:pPr>
            <a:r>
              <a:rPr lang="en-US" altLang="zh-CN" sz="1600" dirty="0"/>
              <a:t>5.</a:t>
            </a:r>
            <a:r>
              <a:rPr lang="zh-CN" altLang="en-US" sz="1600" dirty="0"/>
              <a:t>《微信支付接口文档》（腾讯公司，</a:t>
            </a:r>
            <a:r>
              <a:rPr lang="en-US" altLang="zh-CN" sz="1600" dirty="0"/>
              <a:t>2025 </a:t>
            </a:r>
            <a:r>
              <a:rPr lang="zh-CN" altLang="en-US" sz="1600" dirty="0"/>
              <a:t>版）</a:t>
            </a:r>
            <a:endParaRPr lang="zh-CN" altLang="en-US" sz="1600" dirty="0"/>
          </a:p>
          <a:p>
            <a:pPr algn="just">
              <a:lnSpc>
                <a:spcPct val="150000"/>
              </a:lnSpc>
            </a:pPr>
            <a:r>
              <a:rPr lang="en-US" altLang="zh-CN" sz="1600" dirty="0"/>
              <a:t>6.</a:t>
            </a:r>
            <a:r>
              <a:rPr lang="zh-CN" altLang="en-US" sz="1600" dirty="0"/>
              <a:t>《城小二可行性分析报告》（版本</a:t>
            </a:r>
            <a:r>
              <a:rPr lang="en-US" altLang="zh-CN" sz="1600" dirty="0"/>
              <a:t> V1.0</a:t>
            </a:r>
            <a:r>
              <a:rPr lang="zh-CN" altLang="en-US" sz="1600" dirty="0"/>
              <a:t>，</a:t>
            </a:r>
            <a:r>
              <a:rPr lang="en-US" altLang="zh-CN" sz="1600" dirty="0"/>
              <a:t>2025.11.9</a:t>
            </a:r>
            <a:r>
              <a:rPr lang="zh-CN" altLang="en-US" sz="1600" dirty="0"/>
              <a:t>）</a:t>
            </a:r>
            <a:endParaRPr lang="zh-CN" altLang="en-US" sz="1600" dirty="0"/>
          </a:p>
          <a:p>
            <a:pPr algn="just">
              <a:lnSpc>
                <a:spcPct val="150000"/>
              </a:lnSpc>
            </a:pPr>
            <a:r>
              <a:rPr lang="en-US" altLang="zh-CN" sz="1600" dirty="0"/>
              <a:t>7.</a:t>
            </a:r>
            <a:r>
              <a:rPr lang="zh-CN" altLang="en-US" sz="1600" dirty="0"/>
              <a:t>《城小二总体设计报告》（版本</a:t>
            </a:r>
            <a:r>
              <a:rPr lang="en-US" altLang="zh-CN" sz="1600" dirty="0"/>
              <a:t> V1.0</a:t>
            </a:r>
            <a:r>
              <a:rPr lang="zh-CN" altLang="en-US" sz="1600" dirty="0"/>
              <a:t>，</a:t>
            </a:r>
            <a:r>
              <a:rPr lang="en-US" altLang="zh-CN" sz="1600" dirty="0"/>
              <a:t>2025.11.13</a:t>
            </a:r>
            <a:r>
              <a:rPr lang="zh-CN" altLang="en-US" sz="1600" dirty="0"/>
              <a:t>）</a:t>
            </a:r>
            <a:endParaRPr lang="zh-CN" altLang="en-US" sz="1600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18235" y="10210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分工以及</a:t>
            </a:r>
            <a:r>
              <a:rPr lang="zh-CN" altLang="en-US"/>
              <a:t>评价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481455" y="1404620"/>
            <a:ext cx="9885680" cy="5117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1. </a:t>
            </a:r>
            <a:r>
              <a:rPr lang="zh-CN" altLang="en-US" sz="900"/>
              <a:t>王杰铭：</a:t>
            </a:r>
            <a:r>
              <a:rPr lang="en-US" altLang="zh-CN" sz="900"/>
              <a:t>97</a:t>
            </a:r>
            <a:r>
              <a:rPr lang="zh-CN" altLang="en-US" sz="900"/>
              <a:t>分</a:t>
            </a:r>
            <a:endParaRPr lang="zh-CN" altLang="en-US" sz="900"/>
          </a:p>
          <a:p>
            <a:r>
              <a:rPr lang="en-US" altLang="zh-CN" sz="900"/>
              <a:t> </a:t>
            </a:r>
            <a:r>
              <a:rPr lang="zh-CN" altLang="en-US" sz="900"/>
              <a:t>任务核心程度（</a:t>
            </a:r>
            <a:r>
              <a:rPr lang="en-US" altLang="zh-CN" sz="900"/>
              <a:t>40</a:t>
            </a:r>
            <a:r>
              <a:rPr lang="zh-CN" altLang="en-US" sz="900"/>
              <a:t>分满分）：</a:t>
            </a:r>
            <a:r>
              <a:rPr lang="en-US" altLang="zh-CN" sz="900"/>
              <a:t>40</a:t>
            </a:r>
            <a:r>
              <a:rPr lang="zh-CN" altLang="en-US" sz="900"/>
              <a:t>分</a:t>
            </a:r>
            <a:r>
              <a:rPr lang="en-US" altLang="zh-CN" sz="900"/>
              <a:t>  </a:t>
            </a:r>
            <a:endParaRPr lang="en-US" altLang="zh-CN" sz="900"/>
          </a:p>
          <a:p>
            <a:r>
              <a:rPr lang="en-US" altLang="zh-CN" sz="900"/>
              <a:t>  </a:t>
            </a:r>
            <a:r>
              <a:rPr lang="zh-CN" altLang="en-US" sz="900"/>
              <a:t>承担原型适配、数据库脚本生成与</a:t>
            </a:r>
            <a:r>
              <a:rPr lang="en-US" altLang="zh-CN" sz="900"/>
              <a:t>GitHub</a:t>
            </a:r>
            <a:r>
              <a:rPr lang="zh-CN" altLang="en-US" sz="900"/>
              <a:t>仓库维护三大支撑性核心任务。原型是交互设计落地的直观依据，数据库脚本为系统数据存储奠定基础，仓库维护保障团队协作高效推进，任务直接决定项目设计成果的落地性与可追溯性，支撑作用至关重要。</a:t>
            </a:r>
            <a:endParaRPr lang="zh-CN" altLang="en-US" sz="900"/>
          </a:p>
          <a:p>
            <a:r>
              <a:rPr lang="en-US" altLang="zh-CN" sz="900"/>
              <a:t> </a:t>
            </a:r>
            <a:r>
              <a:rPr lang="zh-CN" altLang="en-US" sz="900"/>
              <a:t>工作量体量（</a:t>
            </a:r>
            <a:r>
              <a:rPr lang="en-US" altLang="zh-CN" sz="900"/>
              <a:t>35</a:t>
            </a:r>
            <a:r>
              <a:rPr lang="zh-CN" altLang="en-US" sz="900"/>
              <a:t>分满分）：</a:t>
            </a:r>
            <a:r>
              <a:rPr lang="en-US" altLang="zh-CN" sz="900"/>
              <a:t>34</a:t>
            </a:r>
            <a:r>
              <a:rPr lang="zh-CN" altLang="en-US" sz="900"/>
              <a:t>分</a:t>
            </a:r>
            <a:r>
              <a:rPr lang="en-US" altLang="zh-CN" sz="900"/>
              <a:t>  </a:t>
            </a:r>
            <a:endParaRPr lang="en-US" altLang="zh-CN" sz="900"/>
          </a:p>
          <a:p>
            <a:r>
              <a:rPr lang="en-US" altLang="zh-CN" sz="900"/>
              <a:t>  </a:t>
            </a:r>
            <a:r>
              <a:rPr lang="zh-CN" altLang="en-US" sz="900"/>
              <a:t>需完成用户端与管理员端全流程原型功能适配，覆盖所有核心操作场景；编写</a:t>
            </a:r>
            <a:r>
              <a:rPr lang="en-US" altLang="zh-CN" sz="900"/>
              <a:t>9</a:t>
            </a:r>
            <a:r>
              <a:rPr lang="zh-CN" altLang="en-US" sz="900"/>
              <a:t>张核心表的表结构、索引设计及初始化脚本，细节要求极高；同时持续同步所有交付物、新增</a:t>
            </a:r>
            <a:r>
              <a:rPr lang="en-US" altLang="zh-CN" sz="900"/>
              <a:t>“</a:t>
            </a:r>
            <a:r>
              <a:rPr lang="zh-CN" altLang="en-US" sz="900"/>
              <a:t>任务进展跟踪</a:t>
            </a:r>
            <a:r>
              <a:rPr lang="en-US" altLang="zh-CN" sz="900"/>
              <a:t>”</a:t>
            </a:r>
            <a:r>
              <a:rPr lang="zh-CN" altLang="en-US" sz="900"/>
              <a:t>目录，分类整理文档版本，任务繁琐且耗时，工作量饱满。</a:t>
            </a:r>
            <a:endParaRPr lang="zh-CN" altLang="en-US" sz="900"/>
          </a:p>
          <a:p>
            <a:r>
              <a:rPr lang="en-US" altLang="zh-CN" sz="900"/>
              <a:t> </a:t>
            </a:r>
            <a:r>
              <a:rPr lang="zh-CN" altLang="en-US" sz="900"/>
              <a:t>成果完整性（</a:t>
            </a:r>
            <a:r>
              <a:rPr lang="en-US" altLang="zh-CN" sz="900"/>
              <a:t>25</a:t>
            </a:r>
            <a:r>
              <a:rPr lang="zh-CN" altLang="en-US" sz="900"/>
              <a:t>分满分）：</a:t>
            </a:r>
            <a:r>
              <a:rPr lang="en-US" altLang="zh-CN" sz="900"/>
              <a:t>23</a:t>
            </a:r>
            <a:r>
              <a:rPr lang="zh-CN" altLang="en-US" sz="900"/>
              <a:t>分</a:t>
            </a:r>
            <a:r>
              <a:rPr lang="en-US" altLang="zh-CN" sz="900"/>
              <a:t>  </a:t>
            </a:r>
            <a:endParaRPr lang="en-US" altLang="zh-CN" sz="900"/>
          </a:p>
          <a:p>
            <a:r>
              <a:rPr lang="en-US" altLang="zh-CN" sz="900"/>
              <a:t>  </a:t>
            </a:r>
            <a:r>
              <a:rPr lang="zh-CN" altLang="en-US" sz="900"/>
              <a:t>原型适配完全贴合设计逻辑，交互流程顺畅无卡顿；数据库脚本规范完整，包含主键、外键、索引设计，可直接用于部署；</a:t>
            </a:r>
            <a:r>
              <a:rPr lang="en-US" altLang="zh-CN" sz="900"/>
              <a:t>GitHub</a:t>
            </a:r>
            <a:r>
              <a:rPr lang="zh-CN" altLang="en-US" sz="900"/>
              <a:t>仓库维护及时，交付物分类清晰、版本追溯便捷，仅原型个别交互细节可优化。</a:t>
            </a:r>
            <a:endParaRPr lang="zh-CN" altLang="en-US" sz="900"/>
          </a:p>
          <a:p>
            <a:endParaRPr lang="en-US" altLang="zh-CN" sz="900"/>
          </a:p>
          <a:p>
            <a:r>
              <a:rPr lang="en-US" altLang="zh-CN" sz="900"/>
              <a:t> 2. </a:t>
            </a:r>
            <a:r>
              <a:rPr lang="zh-CN" altLang="en-US" sz="900"/>
              <a:t>杨俊杰：</a:t>
            </a:r>
            <a:r>
              <a:rPr lang="en-US" altLang="zh-CN" sz="900"/>
              <a:t>96</a:t>
            </a:r>
            <a:r>
              <a:rPr lang="zh-CN" altLang="en-US" sz="900"/>
              <a:t>分</a:t>
            </a:r>
            <a:endParaRPr lang="zh-CN" altLang="en-US" sz="900"/>
          </a:p>
          <a:p>
            <a:r>
              <a:rPr lang="en-US" altLang="zh-CN" sz="900"/>
              <a:t> </a:t>
            </a:r>
            <a:r>
              <a:rPr lang="zh-CN" altLang="en-US" sz="900"/>
              <a:t>任务核心程度（</a:t>
            </a:r>
            <a:r>
              <a:rPr lang="en-US" altLang="zh-CN" sz="900"/>
              <a:t>40</a:t>
            </a:r>
            <a:r>
              <a:rPr lang="zh-CN" altLang="en-US" sz="900"/>
              <a:t>分满分）：</a:t>
            </a:r>
            <a:r>
              <a:rPr lang="en-US" altLang="zh-CN" sz="900"/>
              <a:t>39</a:t>
            </a:r>
            <a:r>
              <a:rPr lang="zh-CN" altLang="en-US" sz="900"/>
              <a:t>分</a:t>
            </a:r>
            <a:r>
              <a:rPr lang="en-US" altLang="zh-CN" sz="900"/>
              <a:t>  </a:t>
            </a:r>
            <a:endParaRPr lang="en-US" altLang="zh-CN" sz="900"/>
          </a:p>
          <a:p>
            <a:r>
              <a:rPr lang="en-US" altLang="zh-CN" sz="900"/>
              <a:t>  </a:t>
            </a:r>
            <a:r>
              <a:rPr lang="zh-CN" altLang="en-US" sz="900"/>
              <a:t>聚焦架构设计与项目计划管控，修订的</a:t>
            </a:r>
            <a:r>
              <a:rPr lang="en-US" altLang="zh-CN" sz="900"/>
              <a:t>HIPO</a:t>
            </a:r>
            <a:r>
              <a:rPr lang="zh-CN" altLang="en-US" sz="900"/>
              <a:t>图明确模块层级关联与数据交互路径，为开发团队提供清晰的架构指引；完善的总体设计报告补充双域架构技术实现细节，包括前后端通信机制、异常处理流程；更新的</a:t>
            </a:r>
            <a:r>
              <a:rPr lang="en-US" altLang="zh-CN" sz="900"/>
              <a:t>Gantt</a:t>
            </a:r>
            <a:r>
              <a:rPr lang="zh-CN" altLang="en-US" sz="900"/>
              <a:t>图锁定关键路径与里程碑节点，保障项目进度可控，任务核心度极高。</a:t>
            </a:r>
            <a:endParaRPr lang="zh-CN" altLang="en-US" sz="900"/>
          </a:p>
          <a:p>
            <a:r>
              <a:rPr lang="en-US" altLang="zh-CN" sz="900"/>
              <a:t> </a:t>
            </a:r>
            <a:r>
              <a:rPr lang="zh-CN" altLang="en-US" sz="900"/>
              <a:t>工作量体量（</a:t>
            </a:r>
            <a:r>
              <a:rPr lang="en-US" altLang="zh-CN" sz="900"/>
              <a:t>35</a:t>
            </a:r>
            <a:r>
              <a:rPr lang="zh-CN" altLang="en-US" sz="900"/>
              <a:t>分满分）：</a:t>
            </a:r>
            <a:r>
              <a:rPr lang="en-US" altLang="zh-CN" sz="900"/>
              <a:t>33</a:t>
            </a:r>
            <a:r>
              <a:rPr lang="zh-CN" altLang="en-US" sz="900"/>
              <a:t>分</a:t>
            </a:r>
            <a:r>
              <a:rPr lang="en-US" altLang="zh-CN" sz="900"/>
              <a:t>  </a:t>
            </a:r>
            <a:endParaRPr lang="en-US" altLang="zh-CN" sz="900"/>
          </a:p>
          <a:p>
            <a:r>
              <a:rPr lang="en-US" altLang="zh-CN" sz="900"/>
              <a:t>  </a:t>
            </a:r>
            <a:r>
              <a:rPr lang="zh-CN" altLang="en-US" sz="900"/>
              <a:t>需深入梳理双域架构下的模块调用关系，反复校验模块层级逻辑；补充架构实现细节时需结合技术栈特性，兼顾可行性与扩展性；进度规划需精准匹配任务复杂度，标注关键里程碑，任务专业性强，逻辑梳理工作量大。</a:t>
            </a:r>
            <a:endParaRPr lang="zh-CN" altLang="en-US" sz="900"/>
          </a:p>
          <a:p>
            <a:r>
              <a:rPr lang="en-US" altLang="zh-CN" sz="900"/>
              <a:t> </a:t>
            </a:r>
            <a:r>
              <a:rPr lang="zh-CN" altLang="en-US" sz="900"/>
              <a:t>成果完整性（</a:t>
            </a:r>
            <a:r>
              <a:rPr lang="en-US" altLang="zh-CN" sz="900"/>
              <a:t>25</a:t>
            </a:r>
            <a:r>
              <a:rPr lang="zh-CN" altLang="en-US" sz="900"/>
              <a:t>分满分）：</a:t>
            </a:r>
            <a:r>
              <a:rPr lang="en-US" altLang="zh-CN" sz="900"/>
              <a:t>24</a:t>
            </a:r>
            <a:r>
              <a:rPr lang="zh-CN" altLang="en-US" sz="900"/>
              <a:t>分</a:t>
            </a:r>
            <a:r>
              <a:rPr lang="en-US" altLang="zh-CN" sz="900"/>
              <a:t>  </a:t>
            </a:r>
            <a:endParaRPr lang="en-US" altLang="zh-CN" sz="900"/>
          </a:p>
          <a:p>
            <a:r>
              <a:rPr lang="en-US" altLang="zh-CN" sz="900"/>
              <a:t>  HIPO</a:t>
            </a:r>
            <a:r>
              <a:rPr lang="zh-CN" altLang="en-US" sz="900"/>
              <a:t>图模块层级清晰、数据交互逻辑无歧义；总体设计报告内容详实，技术实现细节完善，符合行业规范；</a:t>
            </a:r>
            <a:r>
              <a:rPr lang="en-US" altLang="zh-CN" sz="900"/>
              <a:t>Gantt</a:t>
            </a:r>
            <a:r>
              <a:rPr lang="zh-CN" altLang="en-US" sz="900"/>
              <a:t>图进度规划合理，里程碑节点精准，成果完全满足开发与管控需求。</a:t>
            </a:r>
            <a:endParaRPr lang="zh-CN" altLang="en-US" sz="900"/>
          </a:p>
          <a:p>
            <a:endParaRPr lang="en-US" altLang="zh-CN" sz="900"/>
          </a:p>
          <a:p>
            <a:r>
              <a:rPr lang="en-US" altLang="zh-CN" sz="900"/>
              <a:t> 3. </a:t>
            </a:r>
            <a:r>
              <a:rPr lang="zh-CN" altLang="en-US" sz="900"/>
              <a:t>陈鹏宇：</a:t>
            </a:r>
            <a:r>
              <a:rPr lang="en-US" altLang="zh-CN" sz="900"/>
              <a:t>92</a:t>
            </a:r>
            <a:r>
              <a:rPr lang="zh-CN" altLang="en-US" sz="900"/>
              <a:t>分</a:t>
            </a:r>
            <a:endParaRPr lang="zh-CN" altLang="en-US" sz="900"/>
          </a:p>
          <a:p>
            <a:r>
              <a:rPr lang="en-US" altLang="zh-CN" sz="900"/>
              <a:t> </a:t>
            </a:r>
            <a:r>
              <a:rPr lang="zh-CN" altLang="en-US" sz="900"/>
              <a:t>任务核心程度（</a:t>
            </a:r>
            <a:r>
              <a:rPr lang="en-US" altLang="zh-CN" sz="900"/>
              <a:t>40</a:t>
            </a:r>
            <a:r>
              <a:rPr lang="zh-CN" altLang="en-US" sz="900"/>
              <a:t>分满分）：</a:t>
            </a:r>
            <a:r>
              <a:rPr lang="en-US" altLang="zh-CN" sz="900"/>
              <a:t>37</a:t>
            </a:r>
            <a:r>
              <a:rPr lang="zh-CN" altLang="en-US" sz="900"/>
              <a:t>分</a:t>
            </a:r>
            <a:r>
              <a:rPr lang="en-US" altLang="zh-CN" sz="900"/>
              <a:t>  </a:t>
            </a:r>
            <a:endParaRPr lang="en-US" altLang="zh-CN" sz="900"/>
          </a:p>
          <a:p>
            <a:r>
              <a:rPr lang="en-US" altLang="zh-CN" sz="900"/>
              <a:t>  </a:t>
            </a:r>
            <a:r>
              <a:rPr lang="zh-CN" altLang="en-US" sz="900"/>
              <a:t>承担项目计划修订、业务流程图完善、详细设计报告撰写与评审</a:t>
            </a:r>
            <a:r>
              <a:rPr lang="en-US" altLang="zh-CN" sz="900"/>
              <a:t>PPT</a:t>
            </a:r>
            <a:r>
              <a:rPr lang="zh-CN" altLang="en-US" sz="900"/>
              <a:t>制作，负责设计阶段成果整合与评审汇报。项目计划明确开发节奏，业务流程图规范业务流转，详细设计报告指导开发落地，</a:t>
            </a:r>
            <a:r>
              <a:rPr lang="en-US" altLang="zh-CN" sz="900"/>
              <a:t>PPT</a:t>
            </a:r>
            <a:r>
              <a:rPr lang="zh-CN" altLang="en-US" sz="900"/>
              <a:t>保障评审效果，任务统筹性强，直接影响设计阶段成果的完整性与展示质量。</a:t>
            </a:r>
            <a:endParaRPr lang="zh-CN" altLang="en-US" sz="900"/>
          </a:p>
          <a:p>
            <a:r>
              <a:rPr lang="en-US" altLang="zh-CN" sz="900"/>
              <a:t> </a:t>
            </a:r>
            <a:r>
              <a:rPr lang="zh-CN" altLang="en-US" sz="900"/>
              <a:t>工作量体量（</a:t>
            </a:r>
            <a:r>
              <a:rPr lang="en-US" altLang="zh-CN" sz="900"/>
              <a:t>35</a:t>
            </a:r>
            <a:r>
              <a:rPr lang="zh-CN" altLang="en-US" sz="900"/>
              <a:t>分满分）：</a:t>
            </a:r>
            <a:r>
              <a:rPr lang="en-US" altLang="zh-CN" sz="900"/>
              <a:t>31</a:t>
            </a:r>
            <a:r>
              <a:rPr lang="zh-CN" altLang="en-US" sz="900"/>
              <a:t>分</a:t>
            </a:r>
            <a:r>
              <a:rPr lang="en-US" altLang="zh-CN" sz="900"/>
              <a:t>  </a:t>
            </a:r>
            <a:endParaRPr lang="en-US" altLang="zh-CN" sz="900"/>
          </a:p>
          <a:p>
            <a:r>
              <a:rPr lang="en-US" altLang="zh-CN" sz="900"/>
              <a:t>  </a:t>
            </a:r>
            <a:r>
              <a:rPr lang="zh-CN" altLang="en-US" sz="900"/>
              <a:t>涉及多类型文档撰写、流程图修订与</a:t>
            </a:r>
            <a:r>
              <a:rPr lang="en-US" altLang="zh-CN" sz="900"/>
              <a:t>PPT</a:t>
            </a:r>
            <a:r>
              <a:rPr lang="zh-CN" altLang="en-US" sz="900"/>
              <a:t>制作，需协调整合各成员成果，统一文档规范；业务流程图需补充支付失败、库存不足等异常处理场景，详细设计报告需明确模块接口与功能细节，工作量较为饱满。</a:t>
            </a:r>
            <a:endParaRPr lang="zh-CN" altLang="en-US" sz="900"/>
          </a:p>
          <a:p>
            <a:r>
              <a:rPr lang="en-US" altLang="zh-CN" sz="900"/>
              <a:t> </a:t>
            </a:r>
            <a:r>
              <a:rPr lang="zh-CN" altLang="en-US" sz="900"/>
              <a:t>成果完整性（</a:t>
            </a:r>
            <a:r>
              <a:rPr lang="en-US" altLang="zh-CN" sz="900"/>
              <a:t>25</a:t>
            </a:r>
            <a:r>
              <a:rPr lang="zh-CN" altLang="en-US" sz="900"/>
              <a:t>分满分）：</a:t>
            </a:r>
            <a:r>
              <a:rPr lang="en-US" altLang="zh-CN" sz="900"/>
              <a:t>24</a:t>
            </a:r>
            <a:r>
              <a:rPr lang="zh-CN" altLang="en-US" sz="900"/>
              <a:t>分</a:t>
            </a:r>
            <a:r>
              <a:rPr lang="en-US" altLang="zh-CN" sz="900"/>
              <a:t>  </a:t>
            </a:r>
            <a:endParaRPr lang="en-US" altLang="zh-CN" sz="900"/>
          </a:p>
          <a:p>
            <a:r>
              <a:rPr lang="en-US" altLang="zh-CN" sz="900"/>
              <a:t>  </a:t>
            </a:r>
            <a:r>
              <a:rPr lang="zh-CN" altLang="en-US" sz="900"/>
              <a:t>项目计划逻辑连贯、时间节点合理；业务流程图覆盖全场景，异常分支清晰；详细设计报告与</a:t>
            </a:r>
            <a:r>
              <a:rPr lang="en-US" altLang="zh-CN" sz="900"/>
              <a:t>PPT</a:t>
            </a:r>
            <a:r>
              <a:rPr lang="zh-CN" altLang="en-US" sz="900"/>
              <a:t>完整呈现核心设计成果，仅部分接口描述与图形化设计的衔接可进一步优化。</a:t>
            </a:r>
            <a:endParaRPr lang="zh-CN" altLang="en-US" sz="900"/>
          </a:p>
          <a:p>
            <a:endParaRPr lang="en-US" altLang="zh-CN" sz="900"/>
          </a:p>
          <a:p>
            <a:r>
              <a:rPr lang="en-US" altLang="zh-CN" sz="900"/>
              <a:t> 4. </a:t>
            </a:r>
            <a:r>
              <a:rPr lang="zh-CN" altLang="en-US" sz="900"/>
              <a:t>潘攀兆：</a:t>
            </a:r>
            <a:r>
              <a:rPr lang="en-US" altLang="zh-CN" sz="900"/>
              <a:t>85</a:t>
            </a:r>
            <a:r>
              <a:rPr lang="zh-CN" altLang="en-US" sz="900"/>
              <a:t>分</a:t>
            </a:r>
            <a:endParaRPr lang="zh-CN" altLang="en-US" sz="900"/>
          </a:p>
          <a:p>
            <a:r>
              <a:rPr lang="en-US" altLang="zh-CN" sz="900"/>
              <a:t> </a:t>
            </a:r>
            <a:r>
              <a:rPr lang="zh-CN" altLang="en-US" sz="900"/>
              <a:t>任务核心程度（</a:t>
            </a:r>
            <a:r>
              <a:rPr lang="en-US" altLang="zh-CN" sz="900"/>
              <a:t>40</a:t>
            </a:r>
            <a:r>
              <a:rPr lang="zh-CN" altLang="en-US" sz="900"/>
              <a:t>分满分）：</a:t>
            </a:r>
            <a:r>
              <a:rPr lang="en-US" altLang="zh-CN" sz="900"/>
              <a:t>32</a:t>
            </a:r>
            <a:r>
              <a:rPr lang="zh-CN" altLang="en-US" sz="900"/>
              <a:t>分</a:t>
            </a:r>
            <a:r>
              <a:rPr lang="en-US" altLang="zh-CN" sz="900"/>
              <a:t>  </a:t>
            </a:r>
            <a:endParaRPr lang="en-US" altLang="zh-CN" sz="900"/>
          </a:p>
          <a:p>
            <a:r>
              <a:rPr lang="en-US" altLang="zh-CN" sz="900"/>
              <a:t>  </a:t>
            </a:r>
            <a:r>
              <a:rPr lang="zh-CN" altLang="en-US" sz="900"/>
              <a:t>负责核心模块的图形化设计，用</a:t>
            </a:r>
            <a:r>
              <a:rPr lang="en-US" altLang="zh-CN" sz="900"/>
              <a:t>NS</a:t>
            </a:r>
            <a:r>
              <a:rPr lang="zh-CN" altLang="en-US" sz="900"/>
              <a:t>图、</a:t>
            </a:r>
            <a:r>
              <a:rPr lang="en-US" altLang="zh-CN" sz="900"/>
              <a:t>PAD</a:t>
            </a:r>
            <a:r>
              <a:rPr lang="zh-CN" altLang="en-US" sz="900"/>
              <a:t>图、</a:t>
            </a:r>
            <a:r>
              <a:rPr lang="en-US" altLang="zh-CN" sz="900"/>
              <a:t>Jackson</a:t>
            </a:r>
            <a:r>
              <a:rPr lang="zh-CN" altLang="en-US" sz="900"/>
              <a:t>图呈现程序结构，图形化成果是开发人员理解模块逻辑的关键依据，直接影响开发落地准确性，任务专业性突出，但覆盖范围较集中。</a:t>
            </a:r>
            <a:endParaRPr lang="zh-CN" altLang="en-US" sz="900"/>
          </a:p>
          <a:p>
            <a:r>
              <a:rPr lang="en-US" altLang="zh-CN" sz="900"/>
              <a:t> </a:t>
            </a:r>
            <a:r>
              <a:rPr lang="zh-CN" altLang="en-US" sz="900"/>
              <a:t>工作量体量（</a:t>
            </a:r>
            <a:r>
              <a:rPr lang="en-US" altLang="zh-CN" sz="900"/>
              <a:t>35</a:t>
            </a:r>
            <a:r>
              <a:rPr lang="zh-CN" altLang="en-US" sz="900"/>
              <a:t>分满分）：</a:t>
            </a:r>
            <a:r>
              <a:rPr lang="en-US" altLang="zh-CN" sz="900"/>
              <a:t>29</a:t>
            </a:r>
            <a:r>
              <a:rPr lang="zh-CN" altLang="en-US" sz="900"/>
              <a:t>分</a:t>
            </a:r>
            <a:r>
              <a:rPr lang="en-US" altLang="zh-CN" sz="900"/>
              <a:t>  </a:t>
            </a:r>
            <a:endParaRPr lang="en-US" altLang="zh-CN" sz="900"/>
          </a:p>
          <a:p>
            <a:r>
              <a:rPr lang="en-US" altLang="zh-CN" sz="900"/>
              <a:t>  </a:t>
            </a:r>
            <a:r>
              <a:rPr lang="zh-CN" altLang="en-US" sz="900"/>
              <a:t>需针对订单生成等核心模块，覆盖正常流程与异常分支，精准绘制三种图形，确保图形逻辑与业务需求一致，绘制过程需反复校验，但整体任务范围较单一。</a:t>
            </a:r>
            <a:endParaRPr lang="zh-CN" altLang="en-US" sz="900"/>
          </a:p>
          <a:p>
            <a:r>
              <a:rPr lang="en-US" altLang="zh-CN" sz="900"/>
              <a:t> </a:t>
            </a:r>
            <a:r>
              <a:rPr lang="zh-CN" altLang="en-US" sz="900"/>
              <a:t>成果完整性（</a:t>
            </a:r>
            <a:r>
              <a:rPr lang="en-US" altLang="zh-CN" sz="900"/>
              <a:t>25</a:t>
            </a:r>
            <a:r>
              <a:rPr lang="zh-CN" altLang="en-US" sz="900"/>
              <a:t>分满分）：</a:t>
            </a:r>
            <a:r>
              <a:rPr lang="en-US" altLang="zh-CN" sz="900"/>
              <a:t>24</a:t>
            </a:r>
            <a:r>
              <a:rPr lang="zh-CN" altLang="en-US" sz="900"/>
              <a:t>分</a:t>
            </a:r>
            <a:r>
              <a:rPr lang="en-US" altLang="zh-CN" sz="900"/>
              <a:t>  </a:t>
            </a:r>
            <a:endParaRPr lang="en-US" altLang="zh-CN" sz="900"/>
          </a:p>
          <a:p>
            <a:r>
              <a:rPr lang="en-US" altLang="zh-CN" sz="900"/>
              <a:t>  </a:t>
            </a:r>
            <a:r>
              <a:rPr lang="zh-CN" altLang="en-US" sz="900"/>
              <a:t>已按要求完成初稿绘制，图形结构清晰、逻辑闭环，能准确呈现程序执行流程与模块结构，但尚未经过团队全面审核，部分细节需根据反馈优化。</a:t>
            </a:r>
            <a:endParaRPr lang="zh-CN" altLang="en-US" sz="9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7:04-d2t80o5nfo2stf9din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2645"/>
            <a:ext cx="12192000" cy="36029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56710" y="3642360"/>
            <a:ext cx="3877310" cy="59372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16786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16786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06348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16786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16786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0796832" y="629357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0" name="Text 7"/>
          <p:cNvSpPr/>
          <p:nvPr/>
        </p:nvSpPr>
        <p:spPr>
          <a:xfrm>
            <a:off x="10796832" y="629357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989337" y="629357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10989337" y="629357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186107" y="629357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11186107" y="629357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382877" y="629357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11382877" y="629357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031365" y="2159635"/>
            <a:ext cx="8127365" cy="115189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90000"/>
              </a:lnSpc>
            </a:pPr>
            <a:r>
              <a:rPr lang="en-US" sz="9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you.</a:t>
            </a:r>
            <a:endParaRPr lang="en-US" sz="1600" dirty="0"/>
          </a:p>
        </p:txBody>
      </p:sp>
      <p:pic>
        <p:nvPicPr>
          <p:cNvPr id="18" name="Image 1" descr="https://kimi-img.moonshot.cn/pub/slides/slides_tmpl/image/25-09-05-14:16:05-d2t809dnfo2stf9dim0g.png"/>
          <p:cNvPicPr>
            <a:picLocks noChangeAspect="1"/>
          </p:cNvPicPr>
          <p:nvPr/>
        </p:nvPicPr>
        <p:blipFill>
          <a:blip r:embed="rId2"/>
          <a:srcRect l="57" r="57"/>
          <a:stretch>
            <a:fillRect/>
          </a:stretch>
        </p:blipFill>
        <p:spPr>
          <a:xfrm>
            <a:off x="3686810" y="4837430"/>
            <a:ext cx="2110105" cy="49911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932555" y="4918710"/>
            <a:ext cx="1664335" cy="337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陈鹏宇</a:t>
            </a:r>
            <a:endParaRPr lang="en-US" sz="1600" dirty="0"/>
          </a:p>
        </p:txBody>
      </p:sp>
      <p:pic>
        <p:nvPicPr>
          <p:cNvPr id="20" name="Image 2" descr="https://kimi-img.moonshot.cn/pub/slides/slides_tmpl/image/25-09-05-14:16:05-d2t809dnfo2stf9dim0g.png"/>
          <p:cNvPicPr>
            <a:picLocks noChangeAspect="1"/>
          </p:cNvPicPr>
          <p:nvPr/>
        </p:nvPicPr>
        <p:blipFill>
          <a:blip r:embed="rId2"/>
          <a:srcRect l="57" r="57"/>
          <a:stretch>
            <a:fillRect/>
          </a:stretch>
        </p:blipFill>
        <p:spPr>
          <a:xfrm>
            <a:off x="5990590" y="4837430"/>
            <a:ext cx="2110105" cy="49911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72505" y="4918710"/>
            <a:ext cx="1961515" cy="337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时间：2025/11/23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11.25,&quot;left&quot;:190.2,&quot;top&quot;:132.25,&quot;width&quot;:585.8}"/>
</p:tagLst>
</file>

<file path=ppt/tags/tag2.xml><?xml version="1.0" encoding="utf-8"?>
<p:tagLst xmlns:p="http://schemas.openxmlformats.org/presentationml/2006/main">
  <p:tag name="KSO_WM_DIAGRAM_VIRTUALLY_FRAME" val="{&quot;height&quot;:311.25,&quot;left&quot;:190.2,&quot;top&quot;:132.25,&quot;width&quot;:585.8}"/>
</p:tagLst>
</file>

<file path=ppt/tags/tag3.xml><?xml version="1.0" encoding="utf-8"?>
<p:tagLst xmlns:p="http://schemas.openxmlformats.org/presentationml/2006/main">
  <p:tag name="KSO_WM_DIAGRAM_VIRTUALLY_FRAME" val="{&quot;height&quot;:311.25,&quot;left&quot;:190.2,&quot;top&quot;:132.25,&quot;width&quot;:585.8}"/>
</p:tagLst>
</file>

<file path=ppt/tags/tag4.xml><?xml version="1.0" encoding="utf-8"?>
<p:tagLst xmlns:p="http://schemas.openxmlformats.org/presentationml/2006/main">
  <p:tag name="KSO_WM_DIAGRAM_VIRTUALLY_FRAME" val="{&quot;height&quot;:311.25,&quot;left&quot;:190.2,&quot;top&quot;:132.25,&quot;width&quot;:585.8}"/>
</p:tagLst>
</file>

<file path=ppt/tags/tag5.xml><?xml version="1.0" encoding="utf-8"?>
<p:tagLst xmlns:p="http://schemas.openxmlformats.org/presentationml/2006/main">
  <p:tag name="KSO_WM_DIAGRAM_VIRTUALLY_FRAME" val="{&quot;height&quot;:311.25,&quot;left&quot;:190.2,&quot;top&quot;:132.25,&quot;width&quot;:585.8}"/>
</p:tagLst>
</file>

<file path=ppt/tags/tag6.xml><?xml version="1.0" encoding="utf-8"?>
<p:tagLst xmlns:p="http://schemas.openxmlformats.org/presentationml/2006/main">
  <p:tag name="KSO_WM_DIAGRAM_VIRTUALLY_FRAME" val="{&quot;height&quot;:311.25,&quot;left&quot;:190.2,&quot;top&quot;:132.25,&quot;width&quot;:585.8}"/>
</p:tagLst>
</file>

<file path=ppt/tags/tag7.xml><?xml version="1.0" encoding="utf-8"?>
<p:tagLst xmlns:p="http://schemas.openxmlformats.org/presentationml/2006/main">
  <p:tag name="KSO_WM_DIAGRAM_VIRTUALLY_FRAME" val="{&quot;height&quot;:311.25,&quot;left&quot;:190.2,&quot;top&quot;:132.25,&quot;width&quot;:585.8}"/>
</p:tagLst>
</file>

<file path=ppt/tags/tag8.xml><?xml version="1.0" encoding="utf-8"?>
<p:tagLst xmlns:p="http://schemas.openxmlformats.org/presentationml/2006/main">
  <p:tag name="KSO_WM_DIAGRAM_VIRTUALLY_FRAME" val="{&quot;height&quot;:311.25,&quot;left&quot;:190.2,&quot;top&quot;:132.25,&quot;width&quot;:585.8}"/>
</p:tagLst>
</file>

<file path=ppt/tags/tag9.xml><?xml version="1.0" encoding="utf-8"?>
<p:tagLst xmlns:p="http://schemas.openxmlformats.org/presentationml/2006/main">
  <p:tag name="KSO_WM_DIAGRAM_VIRTUALLY_FRAME" val="{&quot;height&quot;:311.25,&quot;left&quot;:190.2,&quot;top&quot;:132.25,&quot;width&quot;:585.8}"/>
</p:tagLst>
</file>

<file path=ppt/tags/tag10.xml><?xml version="1.0" encoding="utf-8"?>
<p:tagLst xmlns:p="http://schemas.openxmlformats.org/presentationml/2006/main">
  <p:tag name="KSO_WM_DIAGRAM_VIRTUALLY_FRAME" val="{&quot;height&quot;:311.25,&quot;left&quot;:190.2,&quot;top&quot;:132.25,&quot;width&quot;:585.8}"/>
</p:tagLst>
</file>

<file path=ppt/tags/tag11.xml><?xml version="1.0" encoding="utf-8"?>
<p:tagLst xmlns:p="http://schemas.openxmlformats.org/presentationml/2006/main">
  <p:tag name="KSO_WM_DIAGRAM_VIRTUALLY_FRAME" val="{&quot;height&quot;:311.25,&quot;left&quot;:190.2,&quot;top&quot;:132.25,&quot;width&quot;:585.8}"/>
</p:tagLst>
</file>

<file path=ppt/tags/tag12.xml><?xml version="1.0" encoding="utf-8"?>
<p:tagLst xmlns:p="http://schemas.openxmlformats.org/presentationml/2006/main">
  <p:tag name="KSO_WM_DIAGRAM_VIRTUALLY_FRAME" val="{&quot;height&quot;:311.25,&quot;left&quot;:190.2,&quot;top&quot;:132.25,&quot;width&quot;:585.8}"/>
</p:tagLst>
</file>

<file path=ppt/tags/tag13.xml><?xml version="1.0" encoding="utf-8"?>
<p:tagLst xmlns:p="http://schemas.openxmlformats.org/presentationml/2006/main">
  <p:tag name="KSO_WM_DIAGRAM_VIRTUALLY_FRAME" val="{&quot;height&quot;:311.25,&quot;left&quot;:190.2,&quot;top&quot;:132.25,&quot;width&quot;:585.8}"/>
</p:tagLst>
</file>

<file path=ppt/tags/tag14.xml><?xml version="1.0" encoding="utf-8"?>
<p:tagLst xmlns:p="http://schemas.openxmlformats.org/presentationml/2006/main">
  <p:tag name="KSO_WM_DIAGRAM_VIRTUALLY_FRAME" val="{&quot;height&quot;:311.25,&quot;left&quot;:190.2,&quot;top&quot;:132.25,&quot;width&quot;:585.8}"/>
</p:tagLst>
</file>

<file path=ppt/tags/tag15.xml><?xml version="1.0" encoding="utf-8"?>
<p:tagLst xmlns:p="http://schemas.openxmlformats.org/presentationml/2006/main">
  <p:tag name="KSO_WM_DIAGRAM_VIRTUALLY_FRAME" val="{&quot;height&quot;:311.25,&quot;left&quot;:190.2,&quot;top&quot;:132.25,&quot;width&quot;:585.8}"/>
</p:tagLst>
</file>

<file path=ppt/tags/tag16.xml><?xml version="1.0" encoding="utf-8"?>
<p:tagLst xmlns:p="http://schemas.openxmlformats.org/presentationml/2006/main">
  <p:tag name="KSO_WM_DIAGRAM_VIRTUALLY_FRAME" val="{&quot;height&quot;:311.25,&quot;left&quot;:190.2,&quot;top&quot;:132.25,&quot;width&quot;:585.8}"/>
</p:tagLst>
</file>

<file path=ppt/tags/tag17.xml><?xml version="1.0" encoding="utf-8"?>
<p:tagLst xmlns:p="http://schemas.openxmlformats.org/presentationml/2006/main">
  <p:tag name="KSO_WM_DIAGRAM_VIRTUALLY_FRAME" val="{&quot;height&quot;:311.25,&quot;left&quot;:190.2,&quot;top&quot;:132.25,&quot;width&quot;:585.8}"/>
</p:tagLst>
</file>

<file path=ppt/tags/tag18.xml><?xml version="1.0" encoding="utf-8"?>
<p:tagLst xmlns:p="http://schemas.openxmlformats.org/presentationml/2006/main">
  <p:tag name="KSO_WM_DIAGRAM_VIRTUALLY_FRAME" val="{&quot;height&quot;:311.25,&quot;left&quot;:190.2,&quot;top&quot;:132.25,&quot;width&quot;:585.8}"/>
</p:tagLst>
</file>

<file path=ppt/tags/tag19.xml><?xml version="1.0" encoding="utf-8"?>
<p:tagLst xmlns:p="http://schemas.openxmlformats.org/presentationml/2006/main">
  <p:tag name="KSO_WM_DIAGRAM_VIRTUALLY_FRAME" val="{&quot;height&quot;:311.25,&quot;left&quot;:190.2,&quot;top&quot;:132.25,&quot;width&quot;:585.8}"/>
</p:tagLst>
</file>

<file path=ppt/tags/tag20.xml><?xml version="1.0" encoding="utf-8"?>
<p:tagLst xmlns:p="http://schemas.openxmlformats.org/presentationml/2006/main">
  <p:tag name="KSO_WM_DIAGRAM_VIRTUALLY_FRAME" val="{&quot;height&quot;:311.25,&quot;left&quot;:190.2,&quot;top&quot;:132.25,&quot;width&quot;:585.8}"/>
</p:tagLst>
</file>

<file path=ppt/tags/tag21.xml><?xml version="1.0" encoding="utf-8"?>
<p:tagLst xmlns:p="http://schemas.openxmlformats.org/presentationml/2006/main">
  <p:tag name="KSO_WM_DIAGRAM_VIRTUALLY_FRAME" val="{&quot;height&quot;:311.25,&quot;left&quot;:190.2,&quot;top&quot;:132.25,&quot;width&quot;:585.8}"/>
</p:tagLst>
</file>

<file path=ppt/tags/tag22.xml><?xml version="1.0" encoding="utf-8"?>
<p:tagLst xmlns:p="http://schemas.openxmlformats.org/presentationml/2006/main">
  <p:tag name="KSO_WM_DIAGRAM_VIRTUALLY_FRAME" val="{&quot;height&quot;:311.25,&quot;left&quot;:190.2,&quot;top&quot;:132.25,&quot;width&quot;:585.8}"/>
</p:tagLst>
</file>

<file path=ppt/tags/tag23.xml><?xml version="1.0" encoding="utf-8"?>
<p:tagLst xmlns:p="http://schemas.openxmlformats.org/presentationml/2006/main">
  <p:tag name="KSO_WM_DIAGRAM_VIRTUALLY_FRAME" val="{&quot;height&quot;:311.25,&quot;left&quot;:190.2,&quot;top&quot;:132.25,&quot;width&quot;:585.8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7256</Words>
  <Application>WPS 演示</Application>
  <PresentationFormat>On-screen Show (16:9)</PresentationFormat>
  <Paragraphs>1294</Paragraphs>
  <Slides>34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6" baseType="lpstr">
      <vt:lpstr>Arial</vt:lpstr>
      <vt:lpstr>宋体</vt:lpstr>
      <vt:lpstr>Wingdings</vt:lpstr>
      <vt:lpstr>MiSans</vt:lpstr>
      <vt:lpstr>MiSans</vt:lpstr>
      <vt:lpstr>Calibri</vt:lpstr>
      <vt:lpstr>微软雅黑</vt:lpstr>
      <vt:lpstr>Arial Unicode MS</vt:lpstr>
      <vt:lpstr>等线</vt:lpstr>
      <vt:lpstr>Arial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城小二校园即时配送系统设计评审</dc:title>
  <dc:creator>Kimi</dc:creator>
  <dc:subject>城小二校园即时配送系统设计评审</dc:subject>
  <cp:lastModifiedBy>微信用户</cp:lastModifiedBy>
  <cp:revision>3</cp:revision>
  <dcterms:created xsi:type="dcterms:W3CDTF">2025-11-23T12:36:00Z</dcterms:created>
  <dcterms:modified xsi:type="dcterms:W3CDTF">2025-11-23T13:44:47Z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{"Label":"城小二校园即时配送系统设计评审","ContentProducer":"001191110108MACG2KBH8F10000","ProduceID":"d4hfuned44j33emqmod0","ReservedCode1":"","ContentPropagator":"001191110108MACG2KBH8F20000","PropagateID":"d4hfuned44j33emqmod0","ReservedCode2":""}</vt:lpwstr>
  </property>
  <property fmtid="{D5CDD505-2E9C-101B-9397-08002B2CF9AE}" pid="3" name="ICV">
    <vt:lpwstr>6A7496F9A65047DE86A67C879FB862AC_12</vt:lpwstr>
  </property>
  <property fmtid="{D5CDD505-2E9C-101B-9397-08002B2CF9AE}" pid="4" name="KSOProductBuildVer">
    <vt:lpwstr>2052-12.1.0.23125</vt:lpwstr>
  </property>
</Properties>
</file>