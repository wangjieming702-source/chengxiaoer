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3" r:id="rId8"/>
    <p:sldId id="291" r:id="rId9"/>
    <p:sldId id="284" r:id="rId10"/>
    <p:sldId id="264" r:id="rId11"/>
    <p:sldId id="286" r:id="rId12"/>
    <p:sldId id="265" r:id="rId13"/>
    <p:sldId id="266" r:id="rId14"/>
    <p:sldId id="287" r:id="rId15"/>
    <p:sldId id="288" r:id="rId16"/>
    <p:sldId id="267" r:id="rId17"/>
    <p:sldId id="268" r:id="rId18"/>
    <p:sldId id="269" r:id="rId19"/>
    <p:sldId id="289" r:id="rId20"/>
    <p:sldId id="290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9" r:id="rId29"/>
    <p:sldId id="281" r:id="rId30"/>
    <p:sldId id="282" r:id="rId31"/>
  </p:sldIdLst>
  <p:sldSz cx="12192000" cy="6858000"/>
  <p:notesSz cx="6858000" cy="12192000"/>
  <p:embeddedFontLst>
    <p:embeddedFont>
      <p:font typeface="MiSans" pitchFamily="34" charset="-122"/>
      <p:regular r:id="rId35"/>
    </p:embeddedFont>
    <p:embeddedFont>
      <p:font typeface="MiSans" pitchFamily="34" charset="-120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  <p:embeddedFont>
      <p:font typeface="等线" panose="02010600030101010101" charset="-122"/>
      <p:regular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image" Target="../media/image7.png"/><Relationship Id="rId6" Type="http://schemas.openxmlformats.org/officeDocument/2006/relationships/tags" Target="../tags/tag2.xml"/><Relationship Id="rId5" Type="http://schemas.openxmlformats.org/officeDocument/2006/relationships/image" Target="../media/image6.png"/><Relationship Id="rId4" Type="http://schemas.openxmlformats.org/officeDocument/2006/relationships/tags" Target="../tags/tag1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image" Target="../media/image4.png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17.png"/><Relationship Id="rId6" Type="http://schemas.openxmlformats.org/officeDocument/2006/relationships/tags" Target="../tags/tag27.xml"/><Relationship Id="rId5" Type="http://schemas.openxmlformats.org/officeDocument/2006/relationships/image" Target="../media/image4.png"/><Relationship Id="rId4" Type="http://schemas.openxmlformats.org/officeDocument/2006/relationships/image" Target="../media/image16.png"/><Relationship Id="rId3" Type="http://schemas.openxmlformats.org/officeDocument/2006/relationships/tags" Target="../tags/tag26.xml"/><Relationship Id="rId2" Type="http://schemas.openxmlformats.org/officeDocument/2006/relationships/image" Target="../media/image15.pn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9.png"/><Relationship Id="rId4" Type="http://schemas.openxmlformats.org/officeDocument/2006/relationships/image" Target="../media/image30.png"/><Relationship Id="rId3" Type="http://schemas.openxmlformats.org/officeDocument/2006/relationships/image" Target="../media/image24.pn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image" Target="../media/image4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tags" Target="../tags/tag37.xml"/><Relationship Id="rId3" Type="http://schemas.openxmlformats.org/officeDocument/2006/relationships/image" Target="../media/image45.png"/><Relationship Id="rId2" Type="http://schemas.openxmlformats.org/officeDocument/2006/relationships/image" Target="../media/image36.jpeg"/><Relationship Id="rId16" Type="http://schemas.openxmlformats.org/officeDocument/2006/relationships/notesSlide" Target="../notesSlides/notesSlide20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40.jpe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2815" y="1875155"/>
            <a:ext cx="7943850" cy="22745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城小二实现与测试阶段评审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7978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86741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5675" y="616648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4394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131570" y="62706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0796832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10796832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8933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98933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186107" y="639644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1118610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82877" y="639644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1382877" y="639644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6" name="Image 0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1"/>
          <a:srcRect l="57" r="57"/>
          <a:stretch>
            <a:fillRect/>
          </a:stretch>
        </p:blipFill>
        <p:spPr>
          <a:xfrm>
            <a:off x="3657600" y="4500245"/>
            <a:ext cx="2110105" cy="49911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903345" y="4581525"/>
            <a:ext cx="166433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陈鹏宇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8" name="Image 1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1"/>
          <a:srcRect l="57" r="57"/>
          <a:stretch>
            <a:fillRect/>
          </a:stretch>
        </p:blipFill>
        <p:spPr>
          <a:xfrm>
            <a:off x="5961380" y="4500245"/>
            <a:ext cx="2110105" cy="49911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43295" y="4581525"/>
            <a:ext cx="196151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时间：2025/12/16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4:16:05-d2t809dnfo2stf9dim1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7545705" y="0"/>
            <a:ext cx="3954145" cy="18751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36980"/>
            <a:ext cx="1186815" cy="46926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82025" y="806688"/>
            <a:ext cx="2261870" cy="90368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5-14:16:05-d2t809dnfo2stf9dim10.jpg"/>
          <p:cNvPicPr>
            <a:picLocks noChangeAspect="1"/>
          </p:cNvPicPr>
          <p:nvPr/>
        </p:nvPicPr>
        <p:blipFill>
          <a:blip r:embed="rId1">
            <a:alphaModFix amt="54000"/>
          </a:blip>
          <a:stretch>
            <a:fillRect/>
          </a:stretch>
        </p:blipFill>
        <p:spPr>
          <a:xfrm>
            <a:off x="935990" y="1819910"/>
            <a:ext cx="19050" cy="339090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635" y="913130"/>
            <a:ext cx="323850" cy="3238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360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95123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039495" y="607250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127125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1215390" y="6177280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1" name="Image 2" descr="https://kimi-img.moonshot.cn/pub/slides/slides_tmpl/image/25-09-05-14:16:06-d2t809lnfo2stf9dim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26380" y="-3810"/>
            <a:ext cx="5916295" cy="280543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4:16:05-d2t809dnfo2stf9dim2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72075" y="1679575"/>
            <a:ext cx="1872615" cy="175323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4:16:05-d2t809dnfo2stf9dim2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16175" y="1679575"/>
            <a:ext cx="1882775" cy="175387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5-14:16:05-d2t809dnfo2stf9dim2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968615" y="1679575"/>
            <a:ext cx="1882775" cy="175387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9-05-14:16:05-d2t809dnfo2stf9dim2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15540" y="3742055"/>
            <a:ext cx="1883410" cy="1753235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9-05-14:16:05-d2t809dnfo2stf9dim20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73345" y="3750945"/>
            <a:ext cx="1882775" cy="1753870"/>
          </a:xfrm>
          <a:prstGeom prst="rect">
            <a:avLst/>
          </a:prstGeom>
        </p:spPr>
      </p:pic>
      <p:pic>
        <p:nvPicPr>
          <p:cNvPr id="17" name="Image 8" descr="https://kimi-img.moonshot.cn/pub/slides/slides_tmpl/image/25-09-05-14:16:05-d2t809dnfo2stf9dim2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971790" y="3742055"/>
            <a:ext cx="1883410" cy="1753235"/>
          </a:xfrm>
          <a:prstGeom prst="rect">
            <a:avLst/>
          </a:prstGeom>
        </p:spPr>
      </p:pic>
      <p:sp>
        <p:nvSpPr>
          <p:cNvPr id="18" name="Shape 7"/>
          <p:cNvSpPr/>
          <p:nvPr>
            <p:custDataLst>
              <p:tags r:id="rId12"/>
            </p:custDataLst>
          </p:nvPr>
        </p:nvSpPr>
        <p:spPr>
          <a:xfrm>
            <a:off x="3031327" y="1817288"/>
            <a:ext cx="652471" cy="598996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9" name="Text 8"/>
          <p:cNvSpPr/>
          <p:nvPr>
            <p:custDataLst>
              <p:tags r:id="rId13"/>
            </p:custDataLst>
          </p:nvPr>
        </p:nvSpPr>
        <p:spPr>
          <a:xfrm>
            <a:off x="3031327" y="1817288"/>
            <a:ext cx="652471" cy="5989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9"/>
          <p:cNvSpPr/>
          <p:nvPr>
            <p:custDataLst>
              <p:tags r:id="rId14"/>
            </p:custDataLst>
          </p:nvPr>
        </p:nvSpPr>
        <p:spPr>
          <a:xfrm>
            <a:off x="2672715" y="2462530"/>
            <a:ext cx="1369695" cy="365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项目速览</a:t>
            </a:r>
            <a:endParaRPr lang="en-US" sz="1600" dirty="0"/>
          </a:p>
        </p:txBody>
      </p:sp>
      <p:sp>
        <p:nvSpPr>
          <p:cNvPr id="21" name="Shape 10"/>
          <p:cNvSpPr/>
          <p:nvPr>
            <p:custDataLst>
              <p:tags r:id="rId15"/>
            </p:custDataLst>
          </p:nvPr>
        </p:nvSpPr>
        <p:spPr>
          <a:xfrm>
            <a:off x="5782147" y="1816653"/>
            <a:ext cx="652471" cy="5995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22" name="Text 11"/>
          <p:cNvSpPr/>
          <p:nvPr>
            <p:custDataLst>
              <p:tags r:id="rId16"/>
            </p:custDataLst>
          </p:nvPr>
        </p:nvSpPr>
        <p:spPr>
          <a:xfrm>
            <a:off x="5782147" y="1816653"/>
            <a:ext cx="652471" cy="59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2"/>
          <p:cNvSpPr/>
          <p:nvPr>
            <p:custDataLst>
              <p:tags r:id="rId17"/>
            </p:custDataLst>
          </p:nvPr>
        </p:nvSpPr>
        <p:spPr>
          <a:xfrm>
            <a:off x="5385753" y="2462530"/>
            <a:ext cx="144526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Shape 13"/>
          <p:cNvSpPr/>
          <p:nvPr>
            <p:custDataLst>
              <p:tags r:id="rId18"/>
            </p:custDataLst>
          </p:nvPr>
        </p:nvSpPr>
        <p:spPr>
          <a:xfrm>
            <a:off x="5788497" y="3888658"/>
            <a:ext cx="652471" cy="5995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25" name="Text 14"/>
          <p:cNvSpPr/>
          <p:nvPr>
            <p:custDataLst>
              <p:tags r:id="rId19"/>
            </p:custDataLst>
          </p:nvPr>
        </p:nvSpPr>
        <p:spPr>
          <a:xfrm>
            <a:off x="5788497" y="3888658"/>
            <a:ext cx="652471" cy="59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5"/>
          <p:cNvSpPr/>
          <p:nvPr>
            <p:custDataLst>
              <p:tags r:id="rId20"/>
            </p:custDataLst>
          </p:nvPr>
        </p:nvSpPr>
        <p:spPr>
          <a:xfrm>
            <a:off x="5429885" y="4533900"/>
            <a:ext cx="136969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</a:t>
            </a:r>
            <a:endParaRPr lang="en-US" sz="1600" dirty="0"/>
          </a:p>
        </p:txBody>
      </p:sp>
      <p:sp>
        <p:nvSpPr>
          <p:cNvPr id="27" name="Shape 16"/>
          <p:cNvSpPr/>
          <p:nvPr>
            <p:custDataLst>
              <p:tags r:id="rId21"/>
            </p:custDataLst>
          </p:nvPr>
        </p:nvSpPr>
        <p:spPr>
          <a:xfrm>
            <a:off x="8583767" y="1817288"/>
            <a:ext cx="652471" cy="5995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28" name="Text 17"/>
          <p:cNvSpPr/>
          <p:nvPr>
            <p:custDataLst>
              <p:tags r:id="rId22"/>
            </p:custDataLst>
          </p:nvPr>
        </p:nvSpPr>
        <p:spPr>
          <a:xfrm>
            <a:off x="8583767" y="1817288"/>
            <a:ext cx="652471" cy="59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18"/>
          <p:cNvSpPr/>
          <p:nvPr>
            <p:custDataLst>
              <p:tags r:id="rId23"/>
            </p:custDataLst>
          </p:nvPr>
        </p:nvSpPr>
        <p:spPr>
          <a:xfrm>
            <a:off x="8225155" y="2462530"/>
            <a:ext cx="136969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测试链路</a:t>
            </a:r>
            <a:endParaRPr lang="en-US" sz="1600" dirty="0"/>
          </a:p>
        </p:txBody>
      </p:sp>
      <p:sp>
        <p:nvSpPr>
          <p:cNvPr id="30" name="Shape 19"/>
          <p:cNvSpPr/>
          <p:nvPr>
            <p:custDataLst>
              <p:tags r:id="rId24"/>
            </p:custDataLst>
          </p:nvPr>
        </p:nvSpPr>
        <p:spPr>
          <a:xfrm>
            <a:off x="3031327" y="3879133"/>
            <a:ext cx="652471" cy="59955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31" name="Text 20"/>
          <p:cNvSpPr/>
          <p:nvPr>
            <p:custDataLst>
              <p:tags r:id="rId25"/>
            </p:custDataLst>
          </p:nvPr>
        </p:nvSpPr>
        <p:spPr>
          <a:xfrm>
            <a:off x="3031327" y="3879133"/>
            <a:ext cx="652471" cy="59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1"/>
          <p:cNvSpPr/>
          <p:nvPr>
            <p:custDataLst>
              <p:tags r:id="rId26"/>
            </p:custDataLst>
          </p:nvPr>
        </p:nvSpPr>
        <p:spPr>
          <a:xfrm>
            <a:off x="2634933" y="4525010"/>
            <a:ext cx="144526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单元</a:t>
            </a: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</a:t>
            </a:r>
            <a:endParaRPr lang="en-US" sz="1600" dirty="0"/>
          </a:p>
        </p:txBody>
      </p:sp>
      <p:sp>
        <p:nvSpPr>
          <p:cNvPr id="33" name="Shape 22"/>
          <p:cNvSpPr/>
          <p:nvPr>
            <p:custDataLst>
              <p:tags r:id="rId27"/>
            </p:custDataLst>
          </p:nvPr>
        </p:nvSpPr>
        <p:spPr>
          <a:xfrm>
            <a:off x="8587260" y="3879133"/>
            <a:ext cx="652471" cy="59955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34" name="Text 23"/>
          <p:cNvSpPr/>
          <p:nvPr>
            <p:custDataLst>
              <p:tags r:id="rId28"/>
            </p:custDataLst>
          </p:nvPr>
        </p:nvSpPr>
        <p:spPr>
          <a:xfrm>
            <a:off x="8587260" y="3879133"/>
            <a:ext cx="652471" cy="59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24"/>
          <p:cNvSpPr/>
          <p:nvPr>
            <p:custDataLst>
              <p:tags r:id="rId29"/>
            </p:custDataLst>
          </p:nvPr>
        </p:nvSpPr>
        <p:spPr>
          <a:xfrm>
            <a:off x="8302308" y="4525010"/>
            <a:ext cx="122237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9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项目速览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58-d2t80mlnfo2stf9dimrg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35279" b="35279"/>
          <a:stretch>
            <a:fillRect/>
          </a:stretch>
        </p:blipFill>
        <p:spPr>
          <a:xfrm>
            <a:off x="0" y="0"/>
            <a:ext cx="12192635" cy="358965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57-d2t80mdnfo2stf9dim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30" y="1509395"/>
            <a:ext cx="3334385" cy="429133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6:57-d2t80mdnfo2stf9dim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195" y="1727835"/>
            <a:ext cx="3334385" cy="429133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3" descr="https://kimi-img.moonshot.cn/pub/slides/slides_tmpl/image/25-09-05-14:16:57-d2t80mdnfo2stf9dimq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" y="1727835"/>
            <a:ext cx="3334385" cy="429133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9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3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2215" y="73201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城小二APP简介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0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1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2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Shape 13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20" name="Image 4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980" y="5984240"/>
            <a:ext cx="323850" cy="32385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437202" y="1983863"/>
            <a:ext cx="1473726" cy="52585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2" name="Text 15"/>
          <p:cNvSpPr/>
          <p:nvPr/>
        </p:nvSpPr>
        <p:spPr>
          <a:xfrm>
            <a:off x="1437202" y="1983863"/>
            <a:ext cx="1473726" cy="525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55039" y="2604554"/>
            <a:ext cx="2746185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项目背景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99452" y="3166762"/>
            <a:ext cx="3057361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城小二APP专注于校园即时配送，旨在为高校学生提供便捷、高效的餐饮及各类商品配送服务，满足学生足不出户享受校园生活的诉求。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5381187" y="1688588"/>
            <a:ext cx="1473726" cy="541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6" name="Text 19"/>
          <p:cNvSpPr/>
          <p:nvPr/>
        </p:nvSpPr>
        <p:spPr>
          <a:xfrm>
            <a:off x="5381187" y="1688588"/>
            <a:ext cx="1473726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799024" y="2309279"/>
            <a:ext cx="2746185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技术选型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43437" y="2871487"/>
            <a:ext cx="3057361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系统基于Vue3框架开发，集成uni-app实现跨平台适配，依赖Pinia进行状态管理，支持本地数据持久化，确保应用高效稳定运行。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9201982" y="1985133"/>
            <a:ext cx="1473726" cy="541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 23"/>
          <p:cNvSpPr/>
          <p:nvPr/>
        </p:nvSpPr>
        <p:spPr>
          <a:xfrm>
            <a:off x="9201982" y="1985133"/>
            <a:ext cx="1473726" cy="5410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619819" y="2605824"/>
            <a:ext cx="2746185" cy="284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项目进展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8464232" y="3168032"/>
            <a:ext cx="3057361" cy="16000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项目于2025年10月启动，12月完成核心模块开发并进入测试阶段，目前正按计划推进，目标是打造学生自研、自测、自用的校园生活服务样本。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8470" y="257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需要的</a:t>
            </a:r>
            <a:r>
              <a:rPr lang="zh-CN" altLang="en-US"/>
              <a:t>工具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0" y="885825"/>
            <a:ext cx="5715000" cy="5086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807085" y="346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测试的</a:t>
            </a:r>
            <a:r>
              <a:rPr lang="zh-CN" altLang="en-US"/>
              <a:t>源代码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61890" y="128270"/>
            <a:ext cx="7037070" cy="15508605"/>
          </a:xfrm>
          <a:prstGeom prst="rect">
            <a:avLst/>
          </a:prstGeom>
        </p:spPr>
        <p:txBody>
          <a:bodyPr>
            <a:no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en-US" altLang="zh-CN" sz="8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60" y="735330"/>
            <a:ext cx="4859655" cy="60534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60" y="128270"/>
            <a:ext cx="4380230" cy="6424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32-d2t80g5nfo2stf9dimi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57975" y="2064385"/>
            <a:ext cx="4182110" cy="361505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32-d2t80g5nfo2stf9dim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23035" y="2064385"/>
            <a:ext cx="4157345" cy="36696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11315065" y="98171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2"/>
          <p:cNvSpPr/>
          <p:nvPr/>
        </p:nvSpPr>
        <p:spPr>
          <a:xfrm>
            <a:off x="11315065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 flipH="1">
            <a:off x="11186795" y="9817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11186795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flipH="1">
            <a:off x="11055350" y="98171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6"/>
          <p:cNvSpPr/>
          <p:nvPr/>
        </p:nvSpPr>
        <p:spPr>
          <a:xfrm>
            <a:off x="11055350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10924540" y="9817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8"/>
          <p:cNvSpPr/>
          <p:nvPr/>
        </p:nvSpPr>
        <p:spPr>
          <a:xfrm>
            <a:off x="10924540" y="9817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2215" y="75106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购物车模块用例全景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1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3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9" name="Image 2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9980" y="5984240"/>
            <a:ext cx="323850" cy="323850"/>
          </a:xfrm>
          <a:prstGeom prst="rect">
            <a:avLst/>
          </a:prstGeom>
        </p:spPr>
      </p:pic>
      <p:pic>
        <p:nvPicPr>
          <p:cNvPr id="20" name="Image 3" descr="https://kimi-img.moonshot.cn/pub/slides/slides_tmpl/image/25-09-05-14:16:31-d2t80ftnfo2stf9dimf0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001963" y="1612265"/>
            <a:ext cx="999490" cy="999490"/>
          </a:xfrm>
          <a:prstGeom prst="rect">
            <a:avLst/>
          </a:prstGeom>
        </p:spPr>
      </p:pic>
      <p:pic>
        <p:nvPicPr>
          <p:cNvPr id="21" name="Image 4" descr="https://kimi-img.moonshot.cn/pub/slides/slides_tmpl/image/25-09-05-14:16:31-d2t80ftnfo2stf9dimf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8320723" y="1612265"/>
            <a:ext cx="999490" cy="999490"/>
          </a:xfrm>
          <a:prstGeom prst="rect">
            <a:avLst/>
          </a:prstGeom>
        </p:spPr>
      </p:pic>
      <p:sp>
        <p:nvSpPr>
          <p:cNvPr id="22" name="Shape 15"/>
          <p:cNvSpPr/>
          <p:nvPr>
            <p:custDataLst>
              <p:tags r:id="rId9"/>
            </p:custDataLst>
          </p:nvPr>
        </p:nvSpPr>
        <p:spPr>
          <a:xfrm>
            <a:off x="3130868" y="1765935"/>
            <a:ext cx="741680" cy="6426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6"/>
          <p:cNvSpPr/>
          <p:nvPr>
            <p:custDataLst>
              <p:tags r:id="rId10"/>
            </p:custDataLst>
          </p:nvPr>
        </p:nvSpPr>
        <p:spPr>
          <a:xfrm>
            <a:off x="3130868" y="1765935"/>
            <a:ext cx="741680" cy="642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7"/>
          <p:cNvSpPr/>
          <p:nvPr>
            <p:custDataLst>
              <p:tags r:id="rId11"/>
            </p:custDataLst>
          </p:nvPr>
        </p:nvSpPr>
        <p:spPr>
          <a:xfrm>
            <a:off x="1628140" y="2686685"/>
            <a:ext cx="359346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用例设计</a:t>
            </a:r>
            <a:endParaRPr lang="en-US" sz="1600" dirty="0"/>
          </a:p>
        </p:txBody>
      </p:sp>
      <p:sp>
        <p:nvSpPr>
          <p:cNvPr id="25" name="Text 18"/>
          <p:cNvSpPr/>
          <p:nvPr>
            <p:custDataLst>
              <p:tags r:id="rId12"/>
            </p:custDataLst>
          </p:nvPr>
        </p:nvSpPr>
        <p:spPr>
          <a:xfrm>
            <a:off x="1541289" y="3015907"/>
            <a:ext cx="3875101" cy="20300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购物车模块设计了8条单元测试用例，全面覆盖商品添加、减少、删除、清空操作，以及库存边界、空状态、总价与数量计算等关键功能点。</a:t>
            </a:r>
            <a:endParaRPr lang="en-US" sz="1600" dirty="0"/>
          </a:p>
        </p:txBody>
      </p:sp>
      <p:sp>
        <p:nvSpPr>
          <p:cNvPr id="26" name="Shape 19"/>
          <p:cNvSpPr/>
          <p:nvPr>
            <p:custDataLst>
              <p:tags r:id="rId13"/>
            </p:custDataLst>
          </p:nvPr>
        </p:nvSpPr>
        <p:spPr>
          <a:xfrm>
            <a:off x="8449628" y="1765935"/>
            <a:ext cx="741680" cy="6426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7" name="Text 20"/>
          <p:cNvSpPr/>
          <p:nvPr>
            <p:custDataLst>
              <p:tags r:id="rId14"/>
            </p:custDataLst>
          </p:nvPr>
        </p:nvSpPr>
        <p:spPr>
          <a:xfrm>
            <a:off x="8449628" y="1765935"/>
            <a:ext cx="741680" cy="642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1"/>
          <p:cNvSpPr/>
          <p:nvPr>
            <p:custDataLst>
              <p:tags r:id="rId15"/>
            </p:custDataLst>
          </p:nvPr>
        </p:nvSpPr>
        <p:spPr>
          <a:xfrm>
            <a:off x="6970395" y="2686685"/>
            <a:ext cx="355727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测试结果</a:t>
            </a:r>
            <a:endParaRPr lang="en-US" sz="1600" dirty="0"/>
          </a:p>
        </p:txBody>
      </p:sp>
      <p:sp>
        <p:nvSpPr>
          <p:cNvPr id="29" name="Text 22"/>
          <p:cNvSpPr/>
          <p:nvPr>
            <p:custDataLst>
              <p:tags r:id="rId16"/>
            </p:custDataLst>
          </p:nvPr>
        </p:nvSpPr>
        <p:spPr>
          <a:xfrm>
            <a:off x="6791870" y="3027337"/>
            <a:ext cx="3875101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所有用例在Jest测试环境中一次性通过，验证了购物车模块在代码层面的正确性，为后续集成测试提供了坚实基础。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75970" y="431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</a:t>
            </a:r>
            <a:r>
              <a:rPr lang="zh-CN" altLang="en-US"/>
              <a:t>用例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220" y="0"/>
            <a:ext cx="446722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85" y="93345"/>
            <a:ext cx="48914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0" descr="https://kimi-img.moonshot.cn/pub/slides/slides_tmpl/image/25-09-05-14:16:50-d2t80klnfo2stf9dimog.png"/>
          <p:cNvPicPr>
            <a:picLocks noChangeAspect="1"/>
          </p:cNvPicPr>
          <p:nvPr/>
        </p:nvPicPr>
        <p:blipFill>
          <a:blip r:embed="rId1"/>
          <a:srcRect l="-378" t="473" r="-3709" b="-473"/>
          <a:stretch>
            <a:fillRect/>
          </a:stretch>
        </p:blipFill>
        <p:spPr>
          <a:xfrm>
            <a:off x="650240" y="1534160"/>
            <a:ext cx="11331575" cy="14757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215" y="73328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测试结果与代码追溯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7" name="Image 1" descr="https://kimi-img.moonshot.cn/pub/slides/slides_tmpl/image/25-09-05-14:16:34-d2t80glnfo2stf9dimm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8840" y="1849120"/>
            <a:ext cx="845820" cy="845820"/>
          </a:xfrm>
          <a:prstGeom prst="rect">
            <a:avLst/>
          </a:prstGeom>
        </p:spPr>
      </p:pic>
      <p:pic>
        <p:nvPicPr>
          <p:cNvPr id="18" name="Image 2" descr="https://kimi-img.moonshot.cn/pub/slides/slides_tmpl/image/25-09-05-14:16:50-d2t80klnfo2stf9dimog.png"/>
          <p:cNvPicPr>
            <a:picLocks noChangeAspect="1"/>
          </p:cNvPicPr>
          <p:nvPr/>
        </p:nvPicPr>
        <p:blipFill>
          <a:blip r:embed="rId1"/>
          <a:srcRect l="-378" t="473" r="-3709" b="-473"/>
          <a:stretch>
            <a:fillRect/>
          </a:stretch>
        </p:blipFill>
        <p:spPr>
          <a:xfrm>
            <a:off x="1341120" y="3185795"/>
            <a:ext cx="11331575" cy="1475740"/>
          </a:xfrm>
          <a:prstGeom prst="rect">
            <a:avLst/>
          </a:prstGeom>
        </p:spPr>
      </p:pic>
      <p:pic>
        <p:nvPicPr>
          <p:cNvPr id="19" name="Image 3" descr="https://kimi-img.moonshot.cn/pub/slides/slides_tmpl/image/25-09-05-14:16:34-d2t80glnfo2stf9dimm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69720" y="3500755"/>
            <a:ext cx="845820" cy="845820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5-14:16:50-d2t80klnfo2stf9dimog.png"/>
          <p:cNvPicPr>
            <a:picLocks noChangeAspect="1"/>
          </p:cNvPicPr>
          <p:nvPr/>
        </p:nvPicPr>
        <p:blipFill>
          <a:blip r:embed="rId1"/>
          <a:srcRect l="-378" t="473" r="-3709" b="-473"/>
          <a:stretch>
            <a:fillRect/>
          </a:stretch>
        </p:blipFill>
        <p:spPr>
          <a:xfrm>
            <a:off x="2227580" y="4847590"/>
            <a:ext cx="11331575" cy="1475740"/>
          </a:xfrm>
          <a:prstGeom prst="rect">
            <a:avLst/>
          </a:prstGeom>
        </p:spPr>
      </p:pic>
      <p:pic>
        <p:nvPicPr>
          <p:cNvPr id="21" name="Image 5" descr="https://kimi-img.moonshot.cn/pub/slides/slides_tmpl/image/25-09-05-14:16:34-d2t80glnfo2stf9dimm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56180" y="5162550"/>
            <a:ext cx="845820" cy="8458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88378" y="1972945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Text 15"/>
          <p:cNvSpPr/>
          <p:nvPr/>
        </p:nvSpPr>
        <p:spPr>
          <a:xfrm>
            <a:off x="988378" y="1972945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1984353" y="1670302"/>
            <a:ext cx="5268832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用例通过情况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1893069" y="1986589"/>
            <a:ext cx="7796220" cy="866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从TC-CART-001到TC-CART-008，单元测试用例全部符合预期，总耗时仅0.639秒，展现了高效的测试执行效率。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679258" y="3624580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7" name="Text 19"/>
          <p:cNvSpPr/>
          <p:nvPr/>
        </p:nvSpPr>
        <p:spPr>
          <a:xfrm>
            <a:off x="1679258" y="3624580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2675233" y="3321937"/>
            <a:ext cx="5268832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代码追溯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2583949" y="3638224"/>
            <a:ext cx="7796220" cy="866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每条用例均可追溯至需求规格3.2节购物车功能点，并在SVN Tag v1.0.0-rc1中对应唯一Commit，确保需求、代码、测试紧密关联。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2565718" y="5286375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1" name="Text 23"/>
          <p:cNvSpPr/>
          <p:nvPr/>
        </p:nvSpPr>
        <p:spPr>
          <a:xfrm>
            <a:off x="2565718" y="5286375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3561693" y="4983732"/>
            <a:ext cx="5268832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评审评价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3470409" y="5300019"/>
            <a:ext cx="7796220" cy="866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评审认为单元测试颗粒度适中，断言设计完整，有效覆盖了购物车模块的核心逻辑，为集成测试提供了可靠的基线。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集成测试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5820" y="555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测试的</a:t>
            </a:r>
            <a:r>
              <a:rPr lang="zh-CN" altLang="en-US"/>
              <a:t>源代码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600" y="13970"/>
            <a:ext cx="5638800" cy="68294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7500" y="2101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</a:t>
            </a:r>
            <a:r>
              <a:rPr lang="zh-CN" altLang="en-US"/>
              <a:t>用例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875" y="0"/>
            <a:ext cx="53447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39760" y="1464945"/>
            <a:ext cx="3057525" cy="4655820"/>
          </a:xfrm>
          <a:prstGeom prst="rect">
            <a:avLst/>
          </a:prstGeom>
          <a:solidFill>
            <a:srgbClr val="2766E6"/>
          </a:solidFill>
        </p:spPr>
      </p:sp>
      <p:sp>
        <p:nvSpPr>
          <p:cNvPr id="3" name="Text 1"/>
          <p:cNvSpPr/>
          <p:nvPr/>
        </p:nvSpPr>
        <p:spPr>
          <a:xfrm>
            <a:off x="8239760" y="1464945"/>
            <a:ext cx="3057525" cy="4655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5-14:16:31-d2t80ftnfo2stf9dimg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-829945" y="2806700"/>
            <a:ext cx="3155950" cy="1496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2970" y="1464945"/>
            <a:ext cx="3039745" cy="4685030"/>
          </a:xfrm>
          <a:prstGeom prst="rect">
            <a:avLst/>
          </a:prstGeom>
          <a:solidFill>
            <a:srgbClr val="2766E6"/>
          </a:solidFill>
        </p:spPr>
      </p:sp>
      <p:sp>
        <p:nvSpPr>
          <p:cNvPr id="6" name="Text 3"/>
          <p:cNvSpPr/>
          <p:nvPr/>
        </p:nvSpPr>
        <p:spPr>
          <a:xfrm>
            <a:off x="902970" y="1464945"/>
            <a:ext cx="3039745" cy="46850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924640" y="8167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>
            <a:off x="10924640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052814" y="8167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1052814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183828" y="8167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2" name="Text 9"/>
          <p:cNvSpPr/>
          <p:nvPr/>
        </p:nvSpPr>
        <p:spPr>
          <a:xfrm>
            <a:off x="11183828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314843" y="8167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11314843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5" name="Image 1" descr="https://kimi-img.moonshot.cn/pub/slides/slides_tmpl/image/25-09-05-14:16:37-d2t80hdnfo2stf9dimmg.jpeg"/>
          <p:cNvPicPr>
            <a:picLocks noChangeAspect="1"/>
          </p:cNvPicPr>
          <p:nvPr/>
        </p:nvPicPr>
        <p:blipFill>
          <a:blip r:embed="rId2"/>
          <a:srcRect t="21395" b="21395"/>
          <a:stretch>
            <a:fillRect/>
          </a:stretch>
        </p:blipFill>
        <p:spPr>
          <a:xfrm>
            <a:off x="4590688" y="4966011"/>
            <a:ext cx="3073400" cy="115570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5-14:17:25-d2t80tdnfo2stf9din30.jpg"/>
          <p:cNvPicPr>
            <a:picLocks noChangeAspect="1"/>
          </p:cNvPicPr>
          <p:nvPr/>
        </p:nvPicPr>
        <p:blipFill>
          <a:blip r:embed="rId3"/>
          <a:srcRect t="15916" b="15916"/>
          <a:stretch>
            <a:fillRect/>
          </a:stretch>
        </p:blipFill>
        <p:spPr>
          <a:xfrm>
            <a:off x="8239760" y="4984115"/>
            <a:ext cx="3058160" cy="116840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09-05-14:17:18-d2t80rlnfo2stf9din20.jpeg"/>
          <p:cNvPicPr>
            <a:picLocks noChangeAspect="1"/>
          </p:cNvPicPr>
          <p:nvPr/>
        </p:nvPicPr>
        <p:blipFill>
          <a:blip r:embed="rId4"/>
          <a:srcRect t="21488" b="21488"/>
          <a:stretch>
            <a:fillRect/>
          </a:stretch>
        </p:blipFill>
        <p:spPr>
          <a:xfrm>
            <a:off x="891540" y="5000625"/>
            <a:ext cx="3051175" cy="11684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01818" y="1465173"/>
            <a:ext cx="3057361" cy="3529229"/>
          </a:xfrm>
          <a:prstGeom prst="rect">
            <a:avLst/>
          </a:prstGeom>
          <a:solidFill>
            <a:srgbClr val="2766E6"/>
          </a:solidFill>
        </p:spPr>
      </p:sp>
      <p:sp>
        <p:nvSpPr>
          <p:cNvPr id="19" name="Text 13"/>
          <p:cNvSpPr/>
          <p:nvPr/>
        </p:nvSpPr>
        <p:spPr>
          <a:xfrm>
            <a:off x="4601818" y="1465173"/>
            <a:ext cx="3057361" cy="352922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42215" y="54722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地址选择联动场景用例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086095" y="1643582"/>
            <a:ext cx="250168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用例设计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68959" y="2230829"/>
            <a:ext cx="2911569" cy="26491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针对结算页与地址页的联动，设计了3条集成测试用例，分别验证默认地址自动回显、无地址时的占位文本与按钮禁用，以及手动选择地址后的实时回写功能。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748503" y="1676733"/>
            <a:ext cx="2501681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测试结果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4701217" y="2230829"/>
            <a:ext cx="2911569" cy="26491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集成测试中，地址选择联动模块的3条用例全部顺利通过，未出现通信延迟或数据回写错误，表明模块间交互顺畅无阻。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8411273" y="1665807"/>
            <a:ext cx="2494713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源代码验证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341762" y="2230829"/>
            <a:ext cx="2911569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页面间通信，地址数据格式与本地存储完全对齐，确保了联动逻辑在Vue3 setup语法下的稳定运行。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24-d2t80e5nfo2stf9dime0.jpeg"/>
          <p:cNvPicPr>
            <a:picLocks noChangeAspect="1"/>
          </p:cNvPicPr>
          <p:nvPr/>
        </p:nvPicPr>
        <p:blipFill>
          <a:blip r:embed="rId1"/>
          <a:srcRect t="22147" b="22147"/>
          <a:stretch>
            <a:fillRect/>
          </a:stretch>
        </p:blipFill>
        <p:spPr>
          <a:xfrm>
            <a:off x="0" y="772795"/>
            <a:ext cx="12192635" cy="40805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06-d2t809lnfo2stf9dim7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65"/>
            <a:ext cx="12192000" cy="40798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12700" y="4081145"/>
            <a:ext cx="5066030" cy="7848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0850" y="1191260"/>
            <a:ext cx="5490845" cy="12865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接口与事件一致性结论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 flipH="1">
            <a:off x="11529695" y="50292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7" name="Text 2"/>
          <p:cNvSpPr/>
          <p:nvPr/>
        </p:nvSpPr>
        <p:spPr>
          <a:xfrm>
            <a:off x="11529695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 flipH="1">
            <a:off x="11398250" y="50419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9" name="Text 4"/>
          <p:cNvSpPr/>
          <p:nvPr/>
        </p:nvSpPr>
        <p:spPr>
          <a:xfrm>
            <a:off x="11398250" y="50419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 flipH="1">
            <a:off x="11269980" y="50292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6"/>
          <p:cNvSpPr/>
          <p:nvPr/>
        </p:nvSpPr>
        <p:spPr>
          <a:xfrm>
            <a:off x="11269980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 flipH="1">
            <a:off x="11139170" y="50292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3" name="Text 8"/>
          <p:cNvSpPr/>
          <p:nvPr/>
        </p:nvSpPr>
        <p:spPr>
          <a:xfrm>
            <a:off x="11139170" y="50292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0850" y="4338955"/>
            <a:ext cx="428815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结论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32435" y="5052060"/>
            <a:ext cx="11332845" cy="99758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集成测试证明，地址选择联动模块的接口与事件一致性良好，评审予以通过。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系统测试缺陷发现与修复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41095" y="788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</a:t>
            </a:r>
            <a:r>
              <a:rPr lang="zh-CN" altLang="en-US"/>
              <a:t>源代码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28980" y="1499870"/>
            <a:ext cx="2136775" cy="4735830"/>
          </a:xfrm>
          <a:prstGeom prst="rect">
            <a:avLst/>
          </a:prstGeom>
        </p:spPr>
        <p:txBody>
          <a:bodyPr>
            <a:noAutofit/>
          </a:bodyPr>
          <a:p>
            <a:pPr defTabSz="266700"/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该模块包含评价提交页（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Evaluate.vue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）、评价列表页（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evaluate-list.vue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）和订单页（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Order.vue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），覆盖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"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订单完成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→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评价提交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→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评价查看</a:t>
            </a:r>
            <a:r>
              <a:rPr lang="en-US" altLang="zh-CN" sz="1600">
                <a:latin typeface="Arial" panose="020B0604020202020204"/>
                <a:ea typeface="等线" panose="02010600030101010101" charset="-122"/>
              </a:rPr>
              <a:t>"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</a:rPr>
              <a:t>全流程</a:t>
            </a:r>
            <a:endParaRPr lang="zh-CN" altLang="en-US" sz="160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3600" y="0"/>
            <a:ext cx="5384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5120" y="283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</a:t>
            </a:r>
            <a:r>
              <a:rPr lang="zh-CN" altLang="en-US"/>
              <a:t>用例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9680" y="0"/>
            <a:ext cx="46126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 flipH="1">
            <a:off x="4839970" y="-4836795"/>
            <a:ext cx="2515870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1353165" y="93091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11353165" y="9309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H="1">
            <a:off x="11224895" y="9309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1224895" y="9309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H="1">
            <a:off x="11093450" y="930910"/>
            <a:ext cx="78105" cy="71755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>
            <a:off x="11093450" y="9309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H="1">
            <a:off x="10962640" y="930910"/>
            <a:ext cx="78105" cy="71755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0962640" y="930910"/>
            <a:ext cx="78105" cy="717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2215" y="71042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评价流程初始化错误</a:t>
            </a:r>
            <a:endParaRPr lang="en-US" sz="1600" dirty="0"/>
          </a:p>
        </p:txBody>
      </p:sp>
      <p:pic>
        <p:nvPicPr>
          <p:cNvPr id="12" name="Image 1" descr="https://kimi-img.moonshot.cn/pub/slides/slides_tmpl/image/25-09-05-14:16:57-d2t80mdnfo2stf9dimq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27702" y="1994535"/>
            <a:ext cx="737235" cy="737235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9-05-14:16:57-d2t80mdnfo2stf9dimq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27542" y="1790065"/>
            <a:ext cx="737235" cy="737235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5-14:16:57-d2t80mdnfo2stf9dimq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472137" y="1656715"/>
            <a:ext cx="737235" cy="737235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4:16:57-d2t80mdnfo2stf9dimr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89930"/>
            <a:ext cx="12192000" cy="106616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982947" y="2118360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0"/>
          <p:cNvSpPr/>
          <p:nvPr/>
        </p:nvSpPr>
        <p:spPr>
          <a:xfrm>
            <a:off x="1982947" y="2118360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23260" y="3100920"/>
            <a:ext cx="3145914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问题描述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43049" y="3443842"/>
            <a:ext cx="3360880" cy="23260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在系统测试的ST-EVAL模块首轮测试中，出现了ReferenceError错误，提示无法在初始化前访问'submitEvaluate'函数。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782787" y="1913890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1" name="Text 14"/>
          <p:cNvSpPr/>
          <p:nvPr/>
        </p:nvSpPr>
        <p:spPr>
          <a:xfrm>
            <a:off x="5782787" y="1913890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577208" y="2873557"/>
            <a:ext cx="3145915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问题原因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482425" y="3157304"/>
            <a:ext cx="3360880" cy="23260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经排查，该错误是由于在函数声明之前调用了defineExpose，导致函数暴露顺序错误，进而引发了初始化失败的问题。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9527382" y="1780540"/>
            <a:ext cx="626745" cy="54356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Text 18"/>
          <p:cNvSpPr/>
          <p:nvPr/>
        </p:nvSpPr>
        <p:spPr>
          <a:xfrm>
            <a:off x="9527382" y="1780540"/>
            <a:ext cx="626745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2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245268" y="2707588"/>
            <a:ext cx="3177217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修复措施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147848" y="2987958"/>
            <a:ext cx="3360880" cy="23260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开发团队迅速调整函数定义顺序，精简暴露范围，仅保留测试必需的mockGoodsInfo函数，并优化生命周期逻辑，通过nextTick确保数据初始化完成。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31-d2t80ftnfo2stf9dimg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22580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20-d2t80d5nfo2stf9dimd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948170" y="1614170"/>
            <a:ext cx="3495675" cy="69919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4263" y="427828"/>
            <a:ext cx="3049055" cy="606887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 flipH="1">
            <a:off x="11314843" y="930413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2"/>
          <p:cNvSpPr/>
          <p:nvPr/>
        </p:nvSpPr>
        <p:spPr>
          <a:xfrm>
            <a:off x="11314843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 flipH="1">
            <a:off x="11186668" y="93041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8" name="Text 4"/>
          <p:cNvSpPr/>
          <p:nvPr/>
        </p:nvSpPr>
        <p:spPr>
          <a:xfrm>
            <a:off x="11186668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flipH="1">
            <a:off x="11055654" y="930413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6"/>
          <p:cNvSpPr/>
          <p:nvPr/>
        </p:nvSpPr>
        <p:spPr>
          <a:xfrm>
            <a:off x="11055654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flipH="1">
            <a:off x="10924640" y="930413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8"/>
          <p:cNvSpPr/>
          <p:nvPr/>
        </p:nvSpPr>
        <p:spPr>
          <a:xfrm>
            <a:off x="10924640" y="930413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Image 2" descr="https://kimi-img.moonshot.cn/pub/slides/slides_tmpl/image/25-09-05-14:16:31-d2t80ftnfo2stf9dimg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829310" y="4091305"/>
            <a:ext cx="3155950" cy="14966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2215" y="77392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5252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修复后再测试结论</a:t>
            </a:r>
            <a:endParaRPr lang="en-US" sz="1600" dirty="0"/>
          </a:p>
        </p:txBody>
      </p:sp>
      <p:pic>
        <p:nvPicPr>
          <p:cNvPr id="15" name="Image 3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79780" y="1612900"/>
            <a:ext cx="3912870" cy="644525"/>
          </a:xfrm>
          <a:prstGeom prst="rect">
            <a:avLst/>
          </a:prstGeom>
        </p:spPr>
      </p:pic>
      <p:pic>
        <p:nvPicPr>
          <p:cNvPr id="16" name="Image 4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16200000">
            <a:off x="2359660" y="5097780"/>
            <a:ext cx="1301115" cy="976630"/>
          </a:xfrm>
          <a:prstGeom prst="rect">
            <a:avLst/>
          </a:prstGeom>
        </p:spPr>
      </p:pic>
      <p:pic>
        <p:nvPicPr>
          <p:cNvPr id="17" name="Image 5" descr="https://kimi-img.moonshot.cn/pub/slides/slides_tmpl/image/25-09-05-14:16:31-d2t80ftnfo2stf9dimh0.png"/>
          <p:cNvPicPr>
            <a:picLocks noChangeAspect="1"/>
          </p:cNvPicPr>
          <p:nvPr/>
        </p:nvPicPr>
        <p:blipFill>
          <a:blip r:embed="rId6">
            <a:alphaModFix amt="89000"/>
          </a:blip>
          <a:srcRect l="9673" r="9673"/>
          <a:stretch>
            <a:fillRect/>
          </a:stretch>
        </p:blipFill>
        <p:spPr>
          <a:xfrm>
            <a:off x="0" y="0"/>
            <a:ext cx="12191365" cy="6000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34085" y="1781175"/>
            <a:ext cx="374459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测试结果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695325" y="2583815"/>
            <a:ext cx="5319395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缺陷修复后，评价流程模块的系统测试用例TC-EVAL-SYS-001至004全部符合预期，测试用例通过率恢复至100%，缺陷清除率也达到100%。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840220" y="4474210"/>
            <a:ext cx="371094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BE19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评审评价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179892" y="4908005"/>
            <a:ext cx="5084322" cy="1356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修复后的评价流程模块运行稳定，满足上线准则，评审认为该模块已具备发布条件，可进入下一阶段。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用户测试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13-d2t80bdnfo2stf9dima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69005"/>
            <a:ext cx="12192635" cy="338899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19-d2t80ctnfo2stf9dimc0.jpg"/>
          <p:cNvPicPr>
            <a:picLocks noChangeAspect="1"/>
          </p:cNvPicPr>
          <p:nvPr/>
        </p:nvPicPr>
        <p:blipFill>
          <a:blip r:embed="rId2">
            <a:alphaModFix amt="89000"/>
          </a:blip>
          <a:srcRect l="9673" r="9673"/>
          <a:stretch>
            <a:fillRect/>
          </a:stretch>
        </p:blipFill>
        <p:spPr>
          <a:xfrm>
            <a:off x="5012690" y="0"/>
            <a:ext cx="7179310" cy="59201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12690" y="710565"/>
            <a:ext cx="6737985" cy="65595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校园场景可用性验证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kimi-img.moonshot.cn/pub/slides/slides_tmpl/image/25-09-05-14:17:20-d2t80s5nfo2stf9din2g.jpg"/>
          <p:cNvPicPr>
            <a:picLocks noChangeAspect="1"/>
          </p:cNvPicPr>
          <p:nvPr/>
        </p:nvPicPr>
        <p:blipFill>
          <a:blip r:embed="rId3">
            <a:alphaModFix amt="60000"/>
          </a:blip>
          <a:srcRect l="13455" r="13455"/>
          <a:stretch>
            <a:fillRect/>
          </a:stretch>
        </p:blipFill>
        <p:spPr>
          <a:xfrm>
            <a:off x="0" y="0"/>
            <a:ext cx="5012690" cy="6857365"/>
          </a:xfrm>
          <a:prstGeom prst="rect">
            <a:avLst/>
          </a:prstGeom>
        </p:spPr>
      </p:pic>
      <p:pic>
        <p:nvPicPr>
          <p:cNvPr id="11" name="Image 3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0" y="6274435"/>
            <a:ext cx="4322445" cy="5727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52410" y="1530985"/>
            <a:ext cx="359346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测试环境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111875" y="1919605"/>
            <a:ext cx="5374640" cy="414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2名高校学生，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在电脑上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，下完成全流程操作，模拟真实使用场景。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852410" y="3804285"/>
            <a:ext cx="359346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测试结果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11875" y="4192905"/>
            <a:ext cx="5374640" cy="737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测试结果显示，操作过程中无卡顿、闪退、网络超时等现象，功能可用性达到100%。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33-d2t80gdnfo2stf9dimkg.pn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6798945" y="0"/>
            <a:ext cx="539305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668655" y="4103370"/>
            <a:ext cx="9835515" cy="166243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6:06-d2t809lnfo2stf9dim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668655" y="1945005"/>
            <a:ext cx="9835515" cy="16275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42215" y="906001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满意度与改进建议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2" name="Image 3" descr="https://kimi-img.moonshot.cn/pub/slides/slides_tmpl/image/25-09-05-14:16:33-d2t80gdnfo2stf9dimj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3515" y="1956435"/>
            <a:ext cx="180340" cy="159956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4:16:33-d2t80gdnfo2stf9dim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320" y="4114800"/>
            <a:ext cx="186055" cy="1651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9320" y="2169795"/>
            <a:ext cx="808672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满意</a:t>
            </a:r>
            <a:r>
              <a:rPr lang="zh-CN" alt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值</a:t>
            </a:r>
            <a:endParaRPr lang="zh-CN" altLang="en-US" sz="2000" b="1" dirty="0">
              <a:solidFill>
                <a:srgbClr val="F8D08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826770" y="2397125"/>
            <a:ext cx="8705850" cy="414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商品浏览满意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值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为95%，下单流程90%，地址管理85%，评价提交90%，整体用户认可度较高。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949960" y="4328160"/>
            <a:ext cx="808672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改进建议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844550" y="4613275"/>
            <a:ext cx="8705850" cy="103695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用户提出2条体验优化建议：一是首页优惠banner不够醒目，建议增加；二是地址编辑步骤偏多，希望简化。评审认为这些建议不影响本次评审通过，但后续需优化。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06-d2t809lnfo2stf9dim7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829435"/>
            <a:ext cx="12191365" cy="3262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1203" y="3609975"/>
            <a:ext cx="310896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</a:t>
            </a:r>
            <a:endParaRPr lang="zh-CN" altLang="en-US" sz="3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9721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16635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27073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4953635" y="1618615"/>
            <a:ext cx="2284095" cy="2335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3800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16200000">
            <a:off x="2310130" y="2972435"/>
            <a:ext cx="1301115" cy="97663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5-14:16:06-d2t809lnfo2stf9dim6g.png"/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 rot="5400000" flipH="1">
            <a:off x="8475980" y="2972435"/>
            <a:ext cx="1301115" cy="9766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19-d2t80ctnfo2stf9dimc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0" y="1715770"/>
            <a:ext cx="12191365" cy="41408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4263" y="479263"/>
            <a:ext cx="3049055" cy="606887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</a:pPr>
            <a:r>
              <a:rPr lang="en-US" sz="4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 flipH="1">
            <a:off x="11314843" y="9818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2"/>
          <p:cNvSpPr/>
          <p:nvPr/>
        </p:nvSpPr>
        <p:spPr>
          <a:xfrm>
            <a:off x="11314843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H="1">
            <a:off x="11186668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11186668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flipH="1">
            <a:off x="11055654" y="9818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11055654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H="1">
            <a:off x="10924640" y="9818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10924640" y="9818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215" y="88250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测试覆盖率与缺陷清零</a:t>
            </a:r>
            <a:endParaRPr lang="en-US" sz="1600" dirty="0"/>
          </a:p>
        </p:txBody>
      </p:sp>
      <p:pic>
        <p:nvPicPr>
          <p:cNvPr id="13" name="Image 1" descr="https://kimi-img.moonshot.cn/pub/slides/slides_tmpl/image/25-09-05-14:16:31-d2t80ftnfo2stf9dimf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02690" y="2300605"/>
            <a:ext cx="999490" cy="99949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5-14:16:31-d2t80ftnfo2stf9dimf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94685" y="4184650"/>
            <a:ext cx="999490" cy="99949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9151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77978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867410" y="6134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955675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>
            <a:off x="1043940" y="6181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20" name="Image 3" descr="https://kimi-img.moonshot.cn/pub/slides/slides_tmpl/image/25-09-05-14:16:05-d2t809dnfo2stf9dim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980" y="5984240"/>
            <a:ext cx="323850" cy="32385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331595" y="2454275"/>
            <a:ext cx="741680" cy="6426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2" name="Text 16"/>
          <p:cNvSpPr/>
          <p:nvPr/>
        </p:nvSpPr>
        <p:spPr>
          <a:xfrm>
            <a:off x="1331595" y="2454275"/>
            <a:ext cx="741680" cy="642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375632" y="2300337"/>
            <a:ext cx="3897151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测试覆盖率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2288540" y="2593340"/>
            <a:ext cx="7422515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综合统计，单元测试8/8、集成测试3/3、系统测试4/4、用户测试2/2全部通过，整体测试覆盖率达到了100%，覆盖了项目的各个关键环节。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3323590" y="4338320"/>
            <a:ext cx="741680" cy="6426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6" name="Text 20"/>
          <p:cNvSpPr/>
          <p:nvPr/>
        </p:nvSpPr>
        <p:spPr>
          <a:xfrm>
            <a:off x="3323590" y="4338320"/>
            <a:ext cx="741680" cy="6426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3800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295491" y="4184497"/>
            <a:ext cx="3875816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8D08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缺陷清零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194175" y="4478020"/>
            <a:ext cx="7335520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在测试过程中，致命缺陷数量为0，一般缺陷也为0，所有缺陷都已得到闭环处置，测试报告、代码、需求三者追溯关系完整。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 flipH="1">
            <a:off x="11314843" y="9691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Text 1"/>
          <p:cNvSpPr/>
          <p:nvPr/>
        </p:nvSpPr>
        <p:spPr>
          <a:xfrm>
            <a:off x="11314843" y="9691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 flipH="1">
            <a:off x="11186668" y="9691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7" name="Text 3"/>
          <p:cNvSpPr/>
          <p:nvPr/>
        </p:nvSpPr>
        <p:spPr>
          <a:xfrm>
            <a:off x="11186668" y="9691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flipH="1">
            <a:off x="11055654" y="9691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Text 5"/>
          <p:cNvSpPr/>
          <p:nvPr/>
        </p:nvSpPr>
        <p:spPr>
          <a:xfrm>
            <a:off x="11055654" y="9691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flipH="1">
            <a:off x="10924640" y="9691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1" name="Text 7"/>
          <p:cNvSpPr/>
          <p:nvPr/>
        </p:nvSpPr>
        <p:spPr>
          <a:xfrm>
            <a:off x="10924640" y="9691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2215" y="73772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参考文献</a:t>
            </a:r>
            <a:endParaRPr 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329180" y="2085340"/>
            <a:ext cx="786828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《微信小程序平台运营规范》（腾讯官方）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作用：确保测试覆盖合规性要求，验证小程序在功能设计、数据使用等方面符合平台规则，规避下架风险。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《信息安全技术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个人信息安全规范》（</a:t>
            </a:r>
            <a:r>
              <a:rPr lang="en-US" altLang="zh-CN">
                <a:solidFill>
                  <a:schemeClr val="bg1"/>
                </a:solidFill>
              </a:rPr>
              <a:t>GB/T 35273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作用：指导安全测试实施，验证用户信息收集、存储、传输过程中的加密保护与权限控制，符合数据安全要求。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《软件测试文档编制规范》（</a:t>
            </a:r>
            <a:r>
              <a:rPr lang="en-US" altLang="zh-CN">
                <a:solidFill>
                  <a:schemeClr val="bg1"/>
                </a:solidFill>
              </a:rPr>
              <a:t>GB/T 9386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作用：统一测试用例、缺陷报告、测试报告的编写格式与标准，保障测试文档的规范性与可读性。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6:19-d2t80ctnfo2stf9dimc0.jpg"/>
          <p:cNvPicPr>
            <a:picLocks noChangeAspect="1"/>
          </p:cNvPicPr>
          <p:nvPr/>
        </p:nvPicPr>
        <p:blipFill>
          <a:blip r:embed="rId1">
            <a:alphaModFix amt="89000"/>
          </a:blip>
          <a:srcRect l="9673" r="9673"/>
          <a:stretch>
            <a:fillRect/>
          </a:stretch>
        </p:blipFill>
        <p:spPr>
          <a:xfrm>
            <a:off x="3175" y="-20955"/>
            <a:ext cx="12191365" cy="156527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4:16:31-d2t80ftnfo2stf9d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" y="1544320"/>
            <a:ext cx="12192635" cy="53143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4:17:00-d2t80n5nfo2stf9dimug.png"/>
          <p:cNvPicPr>
            <a:picLocks noChangeAspect="1"/>
          </p:cNvPicPr>
          <p:nvPr/>
        </p:nvPicPr>
        <p:blipFill>
          <a:blip r:embed="rId3"/>
          <a:srcRect l="22" r="22"/>
          <a:stretch>
            <a:fillRect/>
          </a:stretch>
        </p:blipFill>
        <p:spPr>
          <a:xfrm>
            <a:off x="830284" y="1597989"/>
            <a:ext cx="10819501" cy="469152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924640" y="8167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" name="Text 1"/>
          <p:cNvSpPr/>
          <p:nvPr/>
        </p:nvSpPr>
        <p:spPr>
          <a:xfrm>
            <a:off x="10924640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11052814" y="8167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8" name="Text 3"/>
          <p:cNvSpPr/>
          <p:nvPr/>
        </p:nvSpPr>
        <p:spPr>
          <a:xfrm>
            <a:off x="11052814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11183828" y="816748"/>
            <a:ext cx="77797" cy="7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5"/>
          <p:cNvSpPr/>
          <p:nvPr/>
        </p:nvSpPr>
        <p:spPr>
          <a:xfrm>
            <a:off x="11183828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11314843" y="816748"/>
            <a:ext cx="77797" cy="72000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7"/>
          <p:cNvSpPr/>
          <p:nvPr/>
        </p:nvSpPr>
        <p:spPr>
          <a:xfrm>
            <a:off x="11314843" y="816748"/>
            <a:ext cx="77797" cy="7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2215" y="598026"/>
            <a:ext cx="8152877" cy="83318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组员分工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91515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/>
        </p:nvSpPr>
        <p:spPr>
          <a:xfrm>
            <a:off x="779780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867410" y="6007735"/>
            <a:ext cx="0" cy="22034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Shape 12"/>
          <p:cNvSpPr/>
          <p:nvPr/>
        </p:nvSpPr>
        <p:spPr>
          <a:xfrm>
            <a:off x="955675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1043940" y="6054725"/>
            <a:ext cx="0" cy="12573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9" name="Image 3" descr="https://kimi-img.moonshot.cn/pub/slides/slides_tmpl/image/25-09-05-14:17:02-d2t80nlnfo2stf9dimv0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5072380" y="2784475"/>
            <a:ext cx="2090420" cy="2090420"/>
          </a:xfrm>
          <a:prstGeom prst="rect">
            <a:avLst/>
          </a:prstGeom>
        </p:spPr>
      </p:pic>
      <p:pic>
        <p:nvPicPr>
          <p:cNvPr id="20" name="Image 4" descr="https://kimi-img.moonshot.cn/pub/slides/slides_tmpl/image/25-09-05-14:17:03-d2t80ntnfo2stf9dimvg.png"/>
          <p:cNvPicPr>
            <a:picLocks noChangeAspect="1"/>
          </p:cNvPicPr>
          <p:nvPr/>
        </p:nvPicPr>
        <p:blipFill>
          <a:blip r:embed="rId6">
            <a:alphaModFix amt="89000"/>
          </a:blip>
          <a:srcRect l="9673" r="9673"/>
          <a:stretch>
            <a:fillRect/>
          </a:stretch>
        </p:blipFill>
        <p:spPr>
          <a:xfrm>
            <a:off x="3175" y="6457315"/>
            <a:ext cx="12191365" cy="408305"/>
          </a:xfrm>
          <a:prstGeom prst="rect">
            <a:avLst/>
          </a:prstGeom>
        </p:spPr>
      </p:pic>
      <p:sp>
        <p:nvSpPr>
          <p:cNvPr id="21" name="Text 14"/>
          <p:cNvSpPr/>
          <p:nvPr>
            <p:custDataLst>
              <p:tags r:id="rId7"/>
            </p:custDataLst>
          </p:nvPr>
        </p:nvSpPr>
        <p:spPr>
          <a:xfrm>
            <a:off x="776531" y="1697315"/>
            <a:ext cx="3429709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分工1</a:t>
            </a:r>
            <a:endParaRPr lang="en-US" sz="1600" dirty="0"/>
          </a:p>
        </p:txBody>
      </p:sp>
      <p:sp>
        <p:nvSpPr>
          <p:cNvPr id="22" name="Text 15"/>
          <p:cNvSpPr/>
          <p:nvPr>
            <p:custDataLst>
              <p:tags r:id="rId8"/>
            </p:custDataLst>
          </p:nvPr>
        </p:nvSpPr>
        <p:spPr>
          <a:xfrm>
            <a:off x="663021" y="2061564"/>
            <a:ext cx="4329926" cy="349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潘攀兆：用户手册的撰写工作，90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</a:t>
            </a:r>
            <a:endParaRPr lang="zh-CN" alt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3" name="Text 16"/>
          <p:cNvSpPr/>
          <p:nvPr>
            <p:custDataLst>
              <p:tags r:id="rId9"/>
            </p:custDataLst>
          </p:nvPr>
        </p:nvSpPr>
        <p:spPr>
          <a:xfrm>
            <a:off x="776531" y="4178260"/>
            <a:ext cx="3429709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分工2</a:t>
            </a:r>
            <a:endParaRPr lang="en-US" sz="1600" dirty="0"/>
          </a:p>
        </p:txBody>
      </p:sp>
      <p:sp>
        <p:nvSpPr>
          <p:cNvPr id="24" name="Text 17"/>
          <p:cNvSpPr/>
          <p:nvPr>
            <p:custDataLst>
              <p:tags r:id="rId10"/>
            </p:custDataLst>
          </p:nvPr>
        </p:nvSpPr>
        <p:spPr>
          <a:xfrm>
            <a:off x="662940" y="4531360"/>
            <a:ext cx="4735830" cy="349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陈鹏宇：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撰写测试报告，修订开发计划以及详细设计</a:t>
            </a: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95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</a:t>
            </a:r>
            <a:endParaRPr lang="zh-CN" alt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5" name="Text 18"/>
          <p:cNvSpPr/>
          <p:nvPr>
            <p:custDataLst>
              <p:tags r:id="rId11"/>
            </p:custDataLst>
          </p:nvPr>
        </p:nvSpPr>
        <p:spPr>
          <a:xfrm>
            <a:off x="7268291" y="1697188"/>
            <a:ext cx="3429709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分工3</a:t>
            </a:r>
            <a:endParaRPr lang="en-US" sz="1600" dirty="0"/>
          </a:p>
        </p:txBody>
      </p:sp>
      <p:sp>
        <p:nvSpPr>
          <p:cNvPr id="26" name="Text 19"/>
          <p:cNvSpPr/>
          <p:nvPr>
            <p:custDataLst>
              <p:tags r:id="rId12"/>
            </p:custDataLst>
          </p:nvPr>
        </p:nvSpPr>
        <p:spPr>
          <a:xfrm>
            <a:off x="6965315" y="2061845"/>
            <a:ext cx="4529455" cy="19392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杨俊杰：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前端开发以及</a:t>
            </a: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gatt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图更新</a:t>
            </a: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99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</a:t>
            </a:r>
            <a:endParaRPr 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dirty="0"/>
              <a:t>工作量：前端开发收尾、规范优化等</a:t>
            </a:r>
            <a:r>
              <a:rPr lang="en-US" altLang="zh-CN" sz="1600" dirty="0"/>
              <a:t> 4 </a:t>
            </a:r>
            <a:r>
              <a:rPr lang="zh-CN" altLang="en-US" sz="1600" dirty="0"/>
              <a:t>项关键工作，复杂度高。</a:t>
            </a:r>
            <a:endParaRPr lang="zh-CN" altLang="en-US" sz="1600" dirty="0"/>
          </a:p>
          <a:p>
            <a:pPr algn="just">
              <a:lnSpc>
                <a:spcPct val="120000"/>
              </a:lnSpc>
            </a:pPr>
            <a:r>
              <a:rPr lang="zh-CN" altLang="en-US" sz="1600" dirty="0"/>
              <a:t>完成情况：核心功能落地，</a:t>
            </a:r>
            <a:endParaRPr lang="zh-CN" altLang="en-US" sz="1600" dirty="0"/>
          </a:p>
          <a:p>
            <a:pPr algn="just">
              <a:lnSpc>
                <a:spcPct val="120000"/>
              </a:lnSpc>
            </a:pPr>
            <a:r>
              <a:rPr lang="zh-CN" altLang="en-US" sz="1600" dirty="0"/>
              <a:t>完成质量：按时产出达标前端代码及进度文件（</a:t>
            </a:r>
            <a:r>
              <a:rPr lang="en-US" altLang="zh-CN" sz="1600" dirty="0"/>
              <a:t>gatt</a:t>
            </a:r>
            <a:r>
              <a:rPr lang="zh-CN" altLang="en-US" sz="1600" dirty="0"/>
              <a:t>图）。</a:t>
            </a:r>
            <a:endParaRPr lang="zh-CN" altLang="en-US" sz="1600" dirty="0"/>
          </a:p>
        </p:txBody>
      </p:sp>
      <p:sp>
        <p:nvSpPr>
          <p:cNvPr id="27" name="Text 20"/>
          <p:cNvSpPr/>
          <p:nvPr>
            <p:custDataLst>
              <p:tags r:id="rId13"/>
            </p:custDataLst>
          </p:nvPr>
        </p:nvSpPr>
        <p:spPr>
          <a:xfrm>
            <a:off x="7268291" y="4175466"/>
            <a:ext cx="3429709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6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分工4</a:t>
            </a:r>
            <a:endParaRPr lang="en-US" sz="1600" dirty="0"/>
          </a:p>
        </p:txBody>
      </p:sp>
      <p:sp>
        <p:nvSpPr>
          <p:cNvPr id="28" name="Text 21"/>
          <p:cNvSpPr/>
          <p:nvPr>
            <p:custDataLst>
              <p:tags r:id="rId14"/>
            </p:custDataLst>
          </p:nvPr>
        </p:nvSpPr>
        <p:spPr>
          <a:xfrm>
            <a:off x="7164786" y="4531460"/>
            <a:ext cx="4329926" cy="349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王杰铭：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后端开发，前后端链接，版本管理</a:t>
            </a:r>
            <a:r>
              <a:rPr lang="en-US" altLang="zh-CN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99</a:t>
            </a:r>
            <a:r>
              <a:rPr lang="zh-CN" alt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</a:t>
            </a:r>
            <a:endParaRPr lang="zh-CN" altLang="en-US" sz="1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55040" y="4967605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工作量：全流程测试、报告修订、计划更新 </a:t>
            </a:r>
            <a:r>
              <a:rPr lang="en-US" altLang="zh-CN" sz="1600" b="0" i="0">
                <a:latin typeface="Inter"/>
                <a:ea typeface="Inter"/>
              </a:rPr>
              <a:t>3 </a:t>
            </a:r>
            <a:r>
              <a:rPr lang="zh-CN" altLang="en-US" sz="1600" b="0" i="0">
                <a:latin typeface="Inter"/>
                <a:ea typeface="Inter"/>
              </a:rPr>
              <a:t>项综合任务。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完成情况：</a:t>
            </a:r>
            <a:r>
              <a:rPr lang="zh-CN" altLang="en-US" sz="1600" b="0" i="0">
                <a:latin typeface="Inter"/>
                <a:ea typeface="Inter"/>
              </a:rPr>
              <a:t>已完成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完成质量：准备接受</a:t>
            </a:r>
            <a:r>
              <a:rPr lang="zh-CN" altLang="en-US" sz="1600" b="0" i="0">
                <a:latin typeface="Inter"/>
                <a:ea typeface="Inter"/>
              </a:rPr>
              <a:t>评审</a:t>
            </a:r>
            <a:endParaRPr lang="zh-CN" altLang="en-US" sz="1600" b="0" i="0">
              <a:latin typeface="Inter"/>
              <a:ea typeface="Inter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59905" y="4959033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工作量：后端优化、联调、仓库维护等 </a:t>
            </a:r>
            <a:r>
              <a:rPr lang="en-US" altLang="zh-CN" sz="1600" b="0" i="0">
                <a:latin typeface="Inter"/>
                <a:ea typeface="Inter"/>
              </a:rPr>
              <a:t>5 </a:t>
            </a:r>
            <a:r>
              <a:rPr lang="zh-CN" altLang="en-US" sz="1600" b="0" i="0">
                <a:latin typeface="Inter"/>
                <a:ea typeface="Inter"/>
              </a:rPr>
              <a:t>项核心任务。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完成情况：接口、数据库配置全完成，已解决 </a:t>
            </a:r>
            <a:r>
              <a:rPr lang="en-US" altLang="zh-CN" sz="1600" b="0" i="0">
                <a:latin typeface="Inter"/>
                <a:ea typeface="Inter"/>
              </a:rPr>
              <a:t>5 </a:t>
            </a:r>
            <a:r>
              <a:rPr lang="zh-CN" altLang="en-US" sz="1600" b="0" i="0">
                <a:latin typeface="Inter"/>
                <a:ea typeface="Inter"/>
              </a:rPr>
              <a:t>处联调问题。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完成质量：交付物符合技术标准，推进扎实。</a:t>
            </a:r>
            <a:endParaRPr lang="zh-CN" altLang="en-US" sz="1600" b="0" i="0">
              <a:latin typeface="Inter"/>
              <a:ea typeface="Inter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43940" y="2537778"/>
            <a:ext cx="5080000" cy="107632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工作量：用户手册制作，任务单一复杂度较低。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完成情况：确定框架，仍在收集素材，待完成工作量约 </a:t>
            </a:r>
            <a:r>
              <a:rPr lang="en-US" altLang="zh-CN" sz="1600" b="0" i="0">
                <a:latin typeface="Inter"/>
                <a:ea typeface="Inter"/>
              </a:rPr>
              <a:t>60%</a:t>
            </a:r>
            <a:r>
              <a:rPr lang="zh-CN" altLang="en-US" sz="1600" b="0" i="0">
                <a:latin typeface="Inter"/>
                <a:ea typeface="Inter"/>
              </a:rPr>
              <a:t>。</a:t>
            </a:r>
            <a:endParaRPr lang="zh-CN" altLang="en-US" sz="1600" b="0" i="0">
              <a:latin typeface="Inter"/>
              <a:ea typeface="Inter"/>
            </a:endParaRPr>
          </a:p>
          <a:p>
            <a:pPr marL="0" indent="0" algn="l"/>
            <a:r>
              <a:rPr lang="zh-CN" altLang="en-US" sz="1600" b="0" i="0">
                <a:latin typeface="Inter"/>
                <a:ea typeface="Inter"/>
              </a:rPr>
              <a:t>预期质量：补充内容后可满足用户使用需求</a:t>
            </a:r>
            <a:endParaRPr lang="zh-CN" altLang="en-US" sz="1600" b="0" i="0">
              <a:latin typeface="Inter"/>
              <a:ea typeface="Inter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4:17:04-d2t80o5nfo2stf9din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42645"/>
            <a:ext cx="12192000" cy="36029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710" y="3642360"/>
            <a:ext cx="3877310" cy="5937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779721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867722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55722" y="6063486"/>
            <a:ext cx="0" cy="22041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043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131723" y="6167868"/>
            <a:ext cx="0" cy="12595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10796832" y="629357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Text 7"/>
          <p:cNvSpPr/>
          <p:nvPr/>
        </p:nvSpPr>
        <p:spPr>
          <a:xfrm>
            <a:off x="10796832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98933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0989337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186107" y="6293576"/>
            <a:ext cx="116844" cy="11684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4" name="Text 11"/>
          <p:cNvSpPr/>
          <p:nvPr/>
        </p:nvSpPr>
        <p:spPr>
          <a:xfrm>
            <a:off x="11186107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382877" y="6293576"/>
            <a:ext cx="116844" cy="116844"/>
          </a:xfrm>
          <a:prstGeom prst="ellipse">
            <a:avLst/>
          </a:prstGeom>
          <a:solidFill>
            <a:srgbClr val="FFFFFF">
              <a:alpha val="56471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11382877" y="6293576"/>
            <a:ext cx="116844" cy="11684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31365" y="2159635"/>
            <a:ext cx="8127365" cy="11518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9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you.</a:t>
            </a:r>
            <a:endParaRPr lang="en-US" sz="1600" dirty="0"/>
          </a:p>
        </p:txBody>
      </p:sp>
      <p:pic>
        <p:nvPicPr>
          <p:cNvPr id="18" name="Image 1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2"/>
          <a:srcRect l="57" r="57"/>
          <a:stretch>
            <a:fillRect/>
          </a:stretch>
        </p:blipFill>
        <p:spPr>
          <a:xfrm>
            <a:off x="3686810" y="4837430"/>
            <a:ext cx="2110105" cy="49911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32555" y="4918710"/>
            <a:ext cx="166433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陈鹏宇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20" name="Image 2" descr="https://kimi-img.moonshot.cn/pub/slides/slides_tmpl/image/25-09-05-14:16:05-d2t809dnfo2stf9dim0g.png"/>
          <p:cNvPicPr>
            <a:picLocks noChangeAspect="1"/>
          </p:cNvPicPr>
          <p:nvPr/>
        </p:nvPicPr>
        <p:blipFill>
          <a:blip r:embed="rId2"/>
          <a:srcRect l="57" r="57"/>
          <a:stretch>
            <a:fillRect/>
          </a:stretch>
        </p:blipFill>
        <p:spPr>
          <a:xfrm>
            <a:off x="5990590" y="4837430"/>
            <a:ext cx="2110105" cy="4991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72505" y="4918710"/>
            <a:ext cx="1961515" cy="337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时间：2025/12/17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3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4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5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6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7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8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9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0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1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2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3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4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5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6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7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8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19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0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1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2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3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4.xml><?xml version="1.0" encoding="utf-8"?>
<p:tagLst xmlns:p="http://schemas.openxmlformats.org/presentationml/2006/main">
  <p:tag name="KSO_WM_DIAGRAM_VIRTUALLY_FRAME" val="{&quot;height&quot;:301.2,&quot;left&quot;:190.2,&quot;top&quot;:132.25,&quot;width&quot;:585.8}"/>
</p:tagLst>
</file>

<file path=ppt/tags/tag25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26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27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28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29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0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1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2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3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4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5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6.xml><?xml version="1.0" encoding="utf-8"?>
<p:tagLst xmlns:p="http://schemas.openxmlformats.org/presentationml/2006/main">
  <p:tag name="KSO_WM_DIAGRAM_VIRTUALLY_FRAME" val="{&quot;height&quot;:324.55,&quot;left&quot;:112.05,&quot;top&quot;:126.95,&quot;width&quot;:741.5}"/>
</p:tagLst>
</file>

<file path=ppt/tags/tag37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38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39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40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41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42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43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44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ags/tag45.xml><?xml version="1.0" encoding="utf-8"?>
<p:tagLst xmlns:p="http://schemas.openxmlformats.org/presentationml/2006/main">
  <p:tag name="KSO_WM_DIAGRAM_VIRTUALLY_FRAME" val="{&quot;height&quot;:332.0710236220472,&quot;left&quot;:52.20637795275591,&quot;top&quot;:133.63685039370077,&quot;width&quot;:852.88905511811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演示</Application>
  <PresentationFormat>On-screen Show (16:9)</PresentationFormat>
  <Paragraphs>270</Paragraphs>
  <Slides>28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宋体</vt:lpstr>
      <vt:lpstr>Wingdings</vt:lpstr>
      <vt:lpstr>MiSans</vt:lpstr>
      <vt:lpstr>MiSans</vt:lpstr>
      <vt:lpstr>Consolas</vt:lpstr>
      <vt:lpstr>Calibri</vt:lpstr>
      <vt:lpstr>微软雅黑</vt:lpstr>
      <vt:lpstr>Arial Unicode MS</vt:lpstr>
      <vt:lpstr>等线</vt:lpstr>
      <vt:lpstr>Arial</vt:lpstr>
      <vt:lpstr>Inter</vt:lpstr>
      <vt:lpstr>Segoe Print</vt:lpstr>
      <vt:lpstr>汉仪正圆 55简</vt:lpstr>
      <vt:lpstr>汉仪正圆-75W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城小二实现与测试阶段评审</dc:title>
  <dc:creator>Kimi</dc:creator>
  <dc:subject>城小二实现与测试阶段评审</dc:subject>
  <cp:lastModifiedBy>微信用户</cp:lastModifiedBy>
  <cp:revision>3</cp:revision>
  <dcterms:created xsi:type="dcterms:W3CDTF">2025-12-16T11:20:00Z</dcterms:created>
  <dcterms:modified xsi:type="dcterms:W3CDTF">2025-12-16T15:13:44Z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{"Label":"城小二实现与测试阶段评审","ContentProducer":"001191110108MACG2KBH8F10000","ProduceID":"d50jtm4jc3fbglesvrlg","ReservedCode1":"","ContentPropagator":"001191110108MACG2KBH8F20000","PropagateID":"d50jtm4jc3fbglesvrlg","ReservedCode2":""}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5126BD0F6F244FBEB28A9B10D3B2BE3F_12</vt:lpwstr>
  </property>
</Properties>
</file>