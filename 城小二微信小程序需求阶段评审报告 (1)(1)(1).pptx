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3" r:id="rId13"/>
    <p:sldId id="267" r:id="rId14"/>
    <p:sldId id="281" r:id="rId15"/>
    <p:sldId id="284" r:id="rId16"/>
    <p:sldId id="268" r:id="rId17"/>
    <p:sldId id="285" r:id="rId18"/>
    <p:sldId id="286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80" r:id="rId30"/>
    <p:sldId id="279" r:id="rId31"/>
  </p:sldIdLst>
  <p:sldSz cx="12192000" cy="6858000"/>
  <p:notesSz cx="6858000" cy="12192000"/>
  <p:embeddedFontLst>
    <p:embeddedFont>
      <p:font typeface="MiSans" panose="02010600030101010101" charset="-122"/>
      <p:regular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0C28CF-1942-49DE-AAFF-4B5334D96E1F}" v="21" dt="2025-11-09T11:59:46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ddz_2023@qq.com" userId="de91bb540ea89a48" providerId="LiveId" clId="{D0BC0D08-B8BC-49C6-8AD1-F99148F6D7E8}"/>
    <pc:docChg chg="custSel addSld delSld modSld">
      <pc:chgData name="wddz_2023@qq.com" userId="de91bb540ea89a48" providerId="LiveId" clId="{D0BC0D08-B8BC-49C6-8AD1-F99148F6D7E8}" dt="2025-11-09T12:21:05.296" v="418" actId="1076"/>
      <pc:docMkLst>
        <pc:docMk/>
      </pc:docMkLst>
      <pc:sldChg chg="modSp mod">
        <pc:chgData name="wddz_2023@qq.com" userId="de91bb540ea89a48" providerId="LiveId" clId="{D0BC0D08-B8BC-49C6-8AD1-F99148F6D7E8}" dt="2025-11-09T12:21:05.296" v="418" actId="1076"/>
        <pc:sldMkLst>
          <pc:docMk/>
          <pc:sldMk cId="0" sldId="264"/>
        </pc:sldMkLst>
        <pc:spChg chg="mod">
          <ac:chgData name="wddz_2023@qq.com" userId="de91bb540ea89a48" providerId="LiveId" clId="{D0BC0D08-B8BC-49C6-8AD1-F99148F6D7E8}" dt="2025-11-09T12:21:05.296" v="418" actId="1076"/>
          <ac:spMkLst>
            <pc:docMk/>
            <pc:sldMk cId="0" sldId="264"/>
            <ac:spMk id="12" creationId="{00000000-0000-0000-0000-000000000000}"/>
          </ac:spMkLst>
        </pc:spChg>
      </pc:sldChg>
      <pc:sldChg chg="addSp modSp mod">
        <pc:chgData name="wddz_2023@qq.com" userId="de91bb540ea89a48" providerId="LiveId" clId="{D0BC0D08-B8BC-49C6-8AD1-F99148F6D7E8}" dt="2025-11-09T12:01:44.821" v="215" actId="1076"/>
        <pc:sldMkLst>
          <pc:docMk/>
          <pc:sldMk cId="0" sldId="268"/>
        </pc:sldMkLst>
        <pc:spChg chg="mod">
          <ac:chgData name="wddz_2023@qq.com" userId="de91bb540ea89a48" providerId="LiveId" clId="{D0BC0D08-B8BC-49C6-8AD1-F99148F6D7E8}" dt="2025-11-09T12:01:32.329" v="213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wddz_2023@qq.com" userId="de91bb540ea89a48" providerId="LiveId" clId="{D0BC0D08-B8BC-49C6-8AD1-F99148F6D7E8}" dt="2025-11-09T12:01:36.236" v="214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wddz_2023@qq.com" userId="de91bb540ea89a48" providerId="LiveId" clId="{D0BC0D08-B8BC-49C6-8AD1-F99148F6D7E8}" dt="2025-11-09T12:01:44.821" v="215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wddz_2023@qq.com" userId="de91bb540ea89a48" providerId="LiveId" clId="{D0BC0D08-B8BC-49C6-8AD1-F99148F6D7E8}" dt="2025-11-09T12:00:27.856" v="204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wddz_2023@qq.com" userId="de91bb540ea89a48" providerId="LiveId" clId="{D0BC0D08-B8BC-49C6-8AD1-F99148F6D7E8}" dt="2025-11-09T11:59:58.843" v="199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wddz_2023@qq.com" userId="de91bb540ea89a48" providerId="LiveId" clId="{D0BC0D08-B8BC-49C6-8AD1-F99148F6D7E8}" dt="2025-11-09T12:00:21.890" v="203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wddz_2023@qq.com" userId="de91bb540ea89a48" providerId="LiveId" clId="{D0BC0D08-B8BC-49C6-8AD1-F99148F6D7E8}" dt="2025-11-09T12:00:02.246" v="200" actId="107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wddz_2023@qq.com" userId="de91bb540ea89a48" providerId="LiveId" clId="{D0BC0D08-B8BC-49C6-8AD1-F99148F6D7E8}" dt="2025-11-09T12:00:16.424" v="202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wddz_2023@qq.com" userId="de91bb540ea89a48" providerId="LiveId" clId="{D0BC0D08-B8BC-49C6-8AD1-F99148F6D7E8}" dt="2025-11-09T12:00:10.876" v="201" actId="1076"/>
          <ac:spMkLst>
            <pc:docMk/>
            <pc:sldMk cId="0" sldId="268"/>
            <ac:spMk id="17" creationId="{00000000-0000-0000-0000-000000000000}"/>
          </ac:spMkLst>
        </pc:spChg>
        <pc:spChg chg="add mod">
          <ac:chgData name="wddz_2023@qq.com" userId="de91bb540ea89a48" providerId="LiveId" clId="{D0BC0D08-B8BC-49C6-8AD1-F99148F6D7E8}" dt="2025-11-09T12:01:22.985" v="211" actId="1076"/>
          <ac:spMkLst>
            <pc:docMk/>
            <pc:sldMk cId="0" sldId="268"/>
            <ac:spMk id="19" creationId="{3ACFD8CC-21D2-DAE0-66CC-6A636B585A21}"/>
          </ac:spMkLst>
        </pc:spChg>
      </pc:sldChg>
      <pc:sldChg chg="addSp modSp">
        <pc:chgData name="wddz_2023@qq.com" userId="de91bb540ea89a48" providerId="LiveId" clId="{D0BC0D08-B8BC-49C6-8AD1-F99148F6D7E8}" dt="2025-11-09T11:48:59.553" v="39"/>
        <pc:sldMkLst>
          <pc:docMk/>
          <pc:sldMk cId="0" sldId="273"/>
        </pc:sldMkLst>
        <pc:spChg chg="add mod">
          <ac:chgData name="wddz_2023@qq.com" userId="de91bb540ea89a48" providerId="LiveId" clId="{D0BC0D08-B8BC-49C6-8AD1-F99148F6D7E8}" dt="2025-11-09T11:48:59.553" v="39"/>
          <ac:spMkLst>
            <pc:docMk/>
            <pc:sldMk cId="0" sldId="273"/>
            <ac:spMk id="17" creationId="{5EF47BD0-13E2-562F-779C-F51C89ED7B32}"/>
          </ac:spMkLst>
        </pc:spChg>
      </pc:sldChg>
      <pc:sldChg chg="modSp mod">
        <pc:chgData name="wddz_2023@qq.com" userId="de91bb540ea89a48" providerId="LiveId" clId="{D0BC0D08-B8BC-49C6-8AD1-F99148F6D7E8}" dt="2025-11-09T12:10:04.830" v="417" actId="20577"/>
        <pc:sldMkLst>
          <pc:docMk/>
          <pc:sldMk cId="2523229919" sldId="280"/>
        </pc:sldMkLst>
        <pc:spChg chg="mod">
          <ac:chgData name="wddz_2023@qq.com" userId="de91bb540ea89a48" providerId="LiveId" clId="{D0BC0D08-B8BC-49C6-8AD1-F99148F6D7E8}" dt="2025-11-09T12:10:04.830" v="417" actId="20577"/>
          <ac:spMkLst>
            <pc:docMk/>
            <pc:sldMk cId="2523229919" sldId="280"/>
            <ac:spMk id="14" creationId="{3EDB2040-FC86-51DB-B630-B8C1B45F4B05}"/>
          </ac:spMkLst>
        </pc:spChg>
      </pc:sldChg>
      <pc:sldChg chg="del">
        <pc:chgData name="wddz_2023@qq.com" userId="de91bb540ea89a48" providerId="LiveId" clId="{D0BC0D08-B8BC-49C6-8AD1-F99148F6D7E8}" dt="2025-11-09T11:43:39.151" v="0" actId="2696"/>
        <pc:sldMkLst>
          <pc:docMk/>
          <pc:sldMk cId="3507315105" sldId="282"/>
        </pc:sldMkLst>
      </pc:sldChg>
      <pc:sldChg chg="addSp delSp modSp add mod setBg">
        <pc:chgData name="wddz_2023@qq.com" userId="de91bb540ea89a48" providerId="LiveId" clId="{D0BC0D08-B8BC-49C6-8AD1-F99148F6D7E8}" dt="2025-11-09T11:59:46.258" v="197"/>
        <pc:sldMkLst>
          <pc:docMk/>
          <pc:sldMk cId="4159155718" sldId="284"/>
        </pc:sldMkLst>
        <pc:spChg chg="del">
          <ac:chgData name="wddz_2023@qq.com" userId="de91bb540ea89a48" providerId="LiveId" clId="{D0BC0D08-B8BC-49C6-8AD1-F99148F6D7E8}" dt="2025-11-09T11:46:22.831" v="6" actId="21"/>
          <ac:spMkLst>
            <pc:docMk/>
            <pc:sldMk cId="4159155718" sldId="284"/>
            <ac:spMk id="2" creationId="{11BF8AAA-5ED1-F46C-C348-39F09080312C}"/>
          </ac:spMkLst>
        </pc:spChg>
        <pc:spChg chg="mod">
          <ac:chgData name="wddz_2023@qq.com" userId="de91bb540ea89a48" providerId="LiveId" clId="{D0BC0D08-B8BC-49C6-8AD1-F99148F6D7E8}" dt="2025-11-09T11:47:30.824" v="18" actId="14100"/>
          <ac:spMkLst>
            <pc:docMk/>
            <pc:sldMk cId="4159155718" sldId="284"/>
            <ac:spMk id="3" creationId="{C07DFCD2-A257-BDBC-194A-7DB5F508B7E4}"/>
          </ac:spMkLst>
        </pc:spChg>
        <pc:spChg chg="del">
          <ac:chgData name="wddz_2023@qq.com" userId="de91bb540ea89a48" providerId="LiveId" clId="{D0BC0D08-B8BC-49C6-8AD1-F99148F6D7E8}" dt="2025-11-09T11:46:29.868" v="7" actId="21"/>
          <ac:spMkLst>
            <pc:docMk/>
            <pc:sldMk cId="4159155718" sldId="284"/>
            <ac:spMk id="10" creationId="{BCE91187-19B6-262C-494A-F13A31A0953A}"/>
          </ac:spMkLst>
        </pc:spChg>
        <pc:spChg chg="del">
          <ac:chgData name="wddz_2023@qq.com" userId="de91bb540ea89a48" providerId="LiveId" clId="{D0BC0D08-B8BC-49C6-8AD1-F99148F6D7E8}" dt="2025-11-09T11:46:33.232" v="8" actId="21"/>
          <ac:spMkLst>
            <pc:docMk/>
            <pc:sldMk cId="4159155718" sldId="284"/>
            <ac:spMk id="11" creationId="{DD44D0AD-BA33-4594-0D0E-3B4A189B4EE2}"/>
          </ac:spMkLst>
        </pc:spChg>
        <pc:spChg chg="del">
          <ac:chgData name="wddz_2023@qq.com" userId="de91bb540ea89a48" providerId="LiveId" clId="{D0BC0D08-B8BC-49C6-8AD1-F99148F6D7E8}" dt="2025-11-09T11:46:39.293" v="9" actId="21"/>
          <ac:spMkLst>
            <pc:docMk/>
            <pc:sldMk cId="4159155718" sldId="284"/>
            <ac:spMk id="12" creationId="{2F8783D6-9A39-F7D9-3061-64CC7B657BF8}"/>
          </ac:spMkLst>
        </pc:spChg>
        <pc:spChg chg="del">
          <ac:chgData name="wddz_2023@qq.com" userId="de91bb540ea89a48" providerId="LiveId" clId="{D0BC0D08-B8BC-49C6-8AD1-F99148F6D7E8}" dt="2025-11-09T11:46:42.040" v="10" actId="21"/>
          <ac:spMkLst>
            <pc:docMk/>
            <pc:sldMk cId="4159155718" sldId="284"/>
            <ac:spMk id="13" creationId="{43EBEA91-87D3-3A33-3160-B65F723FC94E}"/>
          </ac:spMkLst>
        </pc:spChg>
        <pc:spChg chg="del">
          <ac:chgData name="wddz_2023@qq.com" userId="de91bb540ea89a48" providerId="LiveId" clId="{D0BC0D08-B8BC-49C6-8AD1-F99148F6D7E8}" dt="2025-11-09T11:46:45.984" v="11" actId="21"/>
          <ac:spMkLst>
            <pc:docMk/>
            <pc:sldMk cId="4159155718" sldId="284"/>
            <ac:spMk id="14" creationId="{351673FF-0BA4-05CA-34E6-11E2E01A9E51}"/>
          </ac:spMkLst>
        </pc:spChg>
        <pc:spChg chg="del">
          <ac:chgData name="wddz_2023@qq.com" userId="de91bb540ea89a48" providerId="LiveId" clId="{D0BC0D08-B8BC-49C6-8AD1-F99148F6D7E8}" dt="2025-11-09T11:46:48.832" v="12" actId="21"/>
          <ac:spMkLst>
            <pc:docMk/>
            <pc:sldMk cId="4159155718" sldId="284"/>
            <ac:spMk id="15" creationId="{FEF9865E-ED8A-8406-8D8E-73F39DA2CDC6}"/>
          </ac:spMkLst>
        </pc:spChg>
        <pc:spChg chg="del">
          <ac:chgData name="wddz_2023@qq.com" userId="de91bb540ea89a48" providerId="LiveId" clId="{D0BC0D08-B8BC-49C6-8AD1-F99148F6D7E8}" dt="2025-11-09T11:46:53.394" v="13" actId="21"/>
          <ac:spMkLst>
            <pc:docMk/>
            <pc:sldMk cId="4159155718" sldId="284"/>
            <ac:spMk id="16" creationId="{EA5C926B-7EB4-AD9C-914A-602EDB645C86}"/>
          </ac:spMkLst>
        </pc:spChg>
        <pc:spChg chg="del">
          <ac:chgData name="wddz_2023@qq.com" userId="de91bb540ea89a48" providerId="LiveId" clId="{D0BC0D08-B8BC-49C6-8AD1-F99148F6D7E8}" dt="2025-11-09T11:46:55.467" v="14" actId="21"/>
          <ac:spMkLst>
            <pc:docMk/>
            <pc:sldMk cId="4159155718" sldId="284"/>
            <ac:spMk id="17" creationId="{5EF47BD0-13E2-562F-779C-F51C89ED7B32}"/>
          </ac:spMkLst>
        </pc:spChg>
        <pc:spChg chg="add mod">
          <ac:chgData name="wddz_2023@qq.com" userId="de91bb540ea89a48" providerId="LiveId" clId="{D0BC0D08-B8BC-49C6-8AD1-F99148F6D7E8}" dt="2025-11-09T11:59:46.258" v="197"/>
          <ac:spMkLst>
            <pc:docMk/>
            <pc:sldMk cId="4159155718" sldId="284"/>
            <ac:spMk id="18" creationId="{B85603D5-A97E-B890-47D9-6158395B3323}"/>
          </ac:spMkLst>
        </pc:spChg>
      </pc:sldChg>
      <pc:sldChg chg="addSp modSp add mod setBg">
        <pc:chgData name="wddz_2023@qq.com" userId="de91bb540ea89a48" providerId="LiveId" clId="{D0BC0D08-B8BC-49C6-8AD1-F99148F6D7E8}" dt="2025-11-09T11:54:02.112" v="145" actId="1076"/>
        <pc:sldMkLst>
          <pc:docMk/>
          <pc:sldMk cId="2576854043" sldId="285"/>
        </pc:sldMkLst>
        <pc:spChg chg="mod">
          <ac:chgData name="wddz_2023@qq.com" userId="de91bb540ea89a48" providerId="LiveId" clId="{D0BC0D08-B8BC-49C6-8AD1-F99148F6D7E8}" dt="2025-11-09T11:51:02.954" v="110"/>
          <ac:spMkLst>
            <pc:docMk/>
            <pc:sldMk cId="2576854043" sldId="285"/>
            <ac:spMk id="8" creationId="{C5CBFB54-0E73-76E5-7406-FA3AA39DABFE}"/>
          </ac:spMkLst>
        </pc:spChg>
        <pc:spChg chg="mod">
          <ac:chgData name="wddz_2023@qq.com" userId="de91bb540ea89a48" providerId="LiveId" clId="{D0BC0D08-B8BC-49C6-8AD1-F99148F6D7E8}" dt="2025-11-09T11:54:02.112" v="145" actId="1076"/>
          <ac:spMkLst>
            <pc:docMk/>
            <pc:sldMk cId="2576854043" sldId="285"/>
            <ac:spMk id="18" creationId="{A1C82DAA-82BB-E727-81BF-475EB75E08B0}"/>
          </ac:spMkLst>
        </pc:spChg>
        <pc:picChg chg="add mod">
          <ac:chgData name="wddz_2023@qq.com" userId="de91bb540ea89a48" providerId="LiveId" clId="{D0BC0D08-B8BC-49C6-8AD1-F99148F6D7E8}" dt="2025-11-09T11:53:54.298" v="144"/>
          <ac:picMkLst>
            <pc:docMk/>
            <pc:sldMk cId="2576854043" sldId="285"/>
            <ac:picMk id="14" creationId="{AE3D0445-3F25-7F8E-6A22-E08DFFBEC6EF}"/>
          </ac:picMkLst>
        </pc:picChg>
      </pc:sldChg>
      <pc:sldChg chg="addSp delSp modSp add mod setBg">
        <pc:chgData name="wddz_2023@qq.com" userId="de91bb540ea89a48" providerId="LiveId" clId="{D0BC0D08-B8BC-49C6-8AD1-F99148F6D7E8}" dt="2025-11-09T11:55:44.978" v="172" actId="20577"/>
        <pc:sldMkLst>
          <pc:docMk/>
          <pc:sldMk cId="1196001107" sldId="286"/>
        </pc:sldMkLst>
        <pc:spChg chg="mod">
          <ac:chgData name="wddz_2023@qq.com" userId="de91bb540ea89a48" providerId="LiveId" clId="{D0BC0D08-B8BC-49C6-8AD1-F99148F6D7E8}" dt="2025-11-09T11:50:21.456" v="87" actId="20577"/>
          <ac:spMkLst>
            <pc:docMk/>
            <pc:sldMk cId="1196001107" sldId="286"/>
            <ac:spMk id="8" creationId="{E20A94B3-F49F-5CD4-32AF-131465033309}"/>
          </ac:spMkLst>
        </pc:spChg>
        <pc:spChg chg="mod">
          <ac:chgData name="wddz_2023@qq.com" userId="de91bb540ea89a48" providerId="LiveId" clId="{D0BC0D08-B8BC-49C6-8AD1-F99148F6D7E8}" dt="2025-11-09T11:55:44.978" v="172" actId="20577"/>
          <ac:spMkLst>
            <pc:docMk/>
            <pc:sldMk cId="1196001107" sldId="286"/>
            <ac:spMk id="18" creationId="{80ECED7D-D63D-7CC8-6112-B19B79B82889}"/>
          </ac:spMkLst>
        </pc:spChg>
        <pc:picChg chg="add del mod">
          <ac:chgData name="wddz_2023@qq.com" userId="de91bb540ea89a48" providerId="LiveId" clId="{D0BC0D08-B8BC-49C6-8AD1-F99148F6D7E8}" dt="2025-11-09T11:53:01.149" v="132" actId="21"/>
          <ac:picMkLst>
            <pc:docMk/>
            <pc:sldMk cId="1196001107" sldId="286"/>
            <ac:picMk id="10" creationId="{51043A16-A1EC-E09E-DDB4-FC6BE914A947}"/>
          </ac:picMkLst>
        </pc:picChg>
        <pc:picChg chg="add del mod">
          <ac:chgData name="wddz_2023@qq.com" userId="de91bb540ea89a48" providerId="LiveId" clId="{D0BC0D08-B8BC-49C6-8AD1-F99148F6D7E8}" dt="2025-11-09T11:53:08.219" v="134" actId="21"/>
          <ac:picMkLst>
            <pc:docMk/>
            <pc:sldMk cId="1196001107" sldId="286"/>
            <ac:picMk id="11" creationId="{51043A16-A1EC-E09E-DDB4-FC6BE914A947}"/>
          </ac:picMkLst>
        </pc:picChg>
        <pc:picChg chg="add del mod">
          <ac:chgData name="wddz_2023@qq.com" userId="de91bb540ea89a48" providerId="LiveId" clId="{D0BC0D08-B8BC-49C6-8AD1-F99148F6D7E8}" dt="2025-11-09T11:53:27.567" v="137" actId="21"/>
          <ac:picMkLst>
            <pc:docMk/>
            <pc:sldMk cId="1196001107" sldId="286"/>
            <ac:picMk id="12" creationId="{51043A16-A1EC-E09E-DDB4-FC6BE914A947}"/>
          </ac:picMkLst>
        </pc:picChg>
        <pc:picChg chg="add del mod">
          <ac:chgData name="wddz_2023@qq.com" userId="de91bb540ea89a48" providerId="LiveId" clId="{D0BC0D08-B8BC-49C6-8AD1-F99148F6D7E8}" dt="2025-11-09T11:53:52.079" v="143" actId="21"/>
          <ac:picMkLst>
            <pc:docMk/>
            <pc:sldMk cId="1196001107" sldId="286"/>
            <ac:picMk id="14" creationId="{AE3D0445-3F25-7F8E-6A22-E08DFFBEC6EF}"/>
          </ac:picMkLst>
        </pc:picChg>
        <pc:picChg chg="add mod">
          <ac:chgData name="wddz_2023@qq.com" userId="de91bb540ea89a48" providerId="LiveId" clId="{D0BC0D08-B8BC-49C6-8AD1-F99148F6D7E8}" dt="2025-11-09T11:55:28.540" v="152" actId="14100"/>
          <ac:picMkLst>
            <pc:docMk/>
            <pc:sldMk cId="1196001107" sldId="286"/>
            <ac:picMk id="16" creationId="{E1A96B40-81C2-9C16-4D5A-510B975C7CCA}"/>
          </ac:picMkLst>
        </pc:picChg>
      </pc:sldChg>
      <pc:sldChg chg="modSp add del setBg">
        <pc:chgData name="wddz_2023@qq.com" userId="de91bb540ea89a48" providerId="LiveId" clId="{D0BC0D08-B8BC-49C6-8AD1-F99148F6D7E8}" dt="2025-11-09T11:51:37.748" v="125" actId="2696"/>
        <pc:sldMkLst>
          <pc:docMk/>
          <pc:sldMk cId="4074218845" sldId="287"/>
        </pc:sldMkLst>
        <pc:spChg chg="mod">
          <ac:chgData name="wddz_2023@qq.com" userId="de91bb540ea89a48" providerId="LiveId" clId="{D0BC0D08-B8BC-49C6-8AD1-F99148F6D7E8}" dt="2025-11-09T11:51:07.612" v="111"/>
          <ac:spMkLst>
            <pc:docMk/>
            <pc:sldMk cId="4074218845" sldId="287"/>
            <ac:spMk id="8" creationId="{B1642648-8A7D-1853-20F4-D51EA20F35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D0AA5-E35D-64F2-1DDD-CCC1C3DF2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85255-04E1-B0FE-8E4F-ED6B1D428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C9A2B-392D-59D8-F97C-396465D18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F0FE4-C993-0064-F27C-15AFBC79B2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553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0AB2C-3116-5600-7B22-18D58E6A7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BBBB3-E321-3DE6-23B1-7BA385EE4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D0AA8-1FDE-D8D5-44CF-297CB62E6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6E3E6-F6AB-EDF6-CAC8-BB434FC814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87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0AD2F-4CE1-7127-194C-B5FD0B86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6F6016-B6D4-1EC3-7B40-DCD9A2242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CA8F7-E79C-659E-5AF5-94200C97B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E58B8-CE70-EF71-A1E9-3AFED6F9DD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69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C1B1A-2D52-FE8B-36B6-9F4AEBB55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9AEF4-E339-EB2F-45B7-2E2FB78B1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F7088-663F-BE00-D1AA-559F98DB4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8ECB6-AA5B-F3B9-8FA6-685770C87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686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75C60-E526-C391-EB79-04814D0C4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77283-8502-D404-7A26-B59785518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DFE0A9-8643-6BA8-D382-3C4BBF392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B5340-75B1-FAD2-4C6D-ABCE077BCA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710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98C67-7FC4-BE7D-2CC6-D41096868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AA054-64CF-0F1C-12C2-E04F35E40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87A530-F0C6-F808-764A-1E57EDB3E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1B63C-92C0-E7B7-D8D9-C4C921E072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560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33:07-d2t6g0tnfo2stf9die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3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32305" y="2021205"/>
            <a:ext cx="8327390" cy="1936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城小二微信小程序需求阶段评审报告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697605" y="4429760"/>
            <a:ext cx="2078990" cy="415290"/>
          </a:xfrm>
          <a:prstGeom prst="roundRect">
            <a:avLst>
              <a:gd name="adj" fmla="val 50000"/>
            </a:avLst>
          </a:prstGeom>
          <a:solidFill>
            <a:srgbClr val="F6F4ED"/>
          </a:solidFill>
        </p:spPr>
      </p:sp>
      <p:sp>
        <p:nvSpPr>
          <p:cNvPr id="5" name="Text 2"/>
          <p:cNvSpPr/>
          <p:nvPr/>
        </p:nvSpPr>
        <p:spPr>
          <a:xfrm>
            <a:off x="3697605" y="4429760"/>
            <a:ext cx="2078990" cy="4152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77615" y="4477678"/>
            <a:ext cx="1918970" cy="245467"/>
          </a:xfrm>
          <a:prstGeom prst="rect">
            <a:avLst/>
          </a:prstGeom>
          <a:solidFill>
            <a:srgbClr val="F6F4ED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汇报人:陈鹏宇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15405" y="4429760"/>
            <a:ext cx="2078990" cy="415290"/>
          </a:xfrm>
          <a:prstGeom prst="roundRect">
            <a:avLst>
              <a:gd name="adj" fmla="val 50000"/>
            </a:avLst>
          </a:prstGeom>
          <a:solidFill>
            <a:srgbClr val="F6F4ED"/>
          </a:solidFill>
        </p:spPr>
      </p:sp>
      <p:sp>
        <p:nvSpPr>
          <p:cNvPr id="8" name="Text 5"/>
          <p:cNvSpPr/>
          <p:nvPr/>
        </p:nvSpPr>
        <p:spPr>
          <a:xfrm>
            <a:off x="6415405" y="4429760"/>
            <a:ext cx="2078990" cy="4152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95415" y="4477678"/>
            <a:ext cx="1918970" cy="245467"/>
          </a:xfrm>
          <a:prstGeom prst="rect">
            <a:avLst/>
          </a:prstGeom>
          <a:solidFill>
            <a:srgbClr val="F6F4ED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时间:2025/11/5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5187315" y="5996305"/>
            <a:ext cx="4382770" cy="337185"/>
          </a:xfrm>
          <a:prstGeom prst="rect">
            <a:avLst/>
          </a:prstGeom>
          <a:solidFill>
            <a:srgbClr val="F6F4ED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dirty="0"/>
              <a:t>小组成员：杨俊杰，潘攀兆，王杰铭，陈鹏宇</a:t>
            </a:r>
          </a:p>
        </p:txBody>
      </p:sp>
      <p:pic>
        <p:nvPicPr>
          <p:cNvPr id="11" name="图片 2" descr="39e6c204adf2495b6fcb3d989723ac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185" y="5242560"/>
            <a:ext cx="1633220" cy="1219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6019800" y="2053189"/>
            <a:ext cx="293611" cy="293736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3" name="Text 1"/>
          <p:cNvSpPr/>
          <p:nvPr/>
        </p:nvSpPr>
        <p:spPr>
          <a:xfrm rot="5400000">
            <a:off x="6019800" y="2053189"/>
            <a:ext cx="293611" cy="2937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5400000">
            <a:off x="6132727" y="2166164"/>
            <a:ext cx="293611" cy="293736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 rot="5400000">
            <a:off x="6132727" y="2166164"/>
            <a:ext cx="293611" cy="2937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 rot="5400000">
            <a:off x="6019800" y="2749109"/>
            <a:ext cx="293611" cy="293331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7" name="Text 5"/>
          <p:cNvSpPr/>
          <p:nvPr/>
        </p:nvSpPr>
        <p:spPr>
          <a:xfrm rot="5400000">
            <a:off x="6019800" y="2749109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5400000">
            <a:off x="6132727" y="2861929"/>
            <a:ext cx="293611" cy="293331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 rot="5400000">
            <a:off x="6132727" y="2861929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rot="5400000">
            <a:off x="6019800" y="3444434"/>
            <a:ext cx="293611" cy="293331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11" name="Text 9"/>
          <p:cNvSpPr/>
          <p:nvPr/>
        </p:nvSpPr>
        <p:spPr>
          <a:xfrm rot="5400000">
            <a:off x="6019800" y="3444434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 rot="5400000">
            <a:off x="6132727" y="3557254"/>
            <a:ext cx="293611" cy="293331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 rot="5400000">
            <a:off x="6132727" y="3557254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rot="5400000">
            <a:off x="6019800" y="4139759"/>
            <a:ext cx="293611" cy="293331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15" name="Text 13"/>
          <p:cNvSpPr/>
          <p:nvPr/>
        </p:nvSpPr>
        <p:spPr>
          <a:xfrm rot="5400000">
            <a:off x="6019800" y="4139759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rot="5400000">
            <a:off x="6132727" y="4252579"/>
            <a:ext cx="293611" cy="293331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 rot="5400000">
            <a:off x="6132727" y="4252579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rot="5400000">
            <a:off x="6019800" y="4835084"/>
            <a:ext cx="293611" cy="293331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19" name="Text 17"/>
          <p:cNvSpPr/>
          <p:nvPr/>
        </p:nvSpPr>
        <p:spPr>
          <a:xfrm rot="5400000">
            <a:off x="6019800" y="4835084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 rot="5400000">
            <a:off x="6132727" y="4947904"/>
            <a:ext cx="293611" cy="293331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 rot="5400000">
            <a:off x="6132727" y="4947904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94705" y="458470"/>
            <a:ext cx="3513455" cy="1289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    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>
                    <a:alpha val="28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pic>
        <p:nvPicPr>
          <p:cNvPr id="23" name="Image 0" descr="https://kimi-img.moonshot.cn/pub/slides/slides_tmpl/image/25-09-05-12:33:07-d2t6g0tnfo2stf9dif10.png"/>
          <p:cNvPicPr>
            <a:picLocks noChangeAspect="1"/>
          </p:cNvPicPr>
          <p:nvPr/>
        </p:nvPicPr>
        <p:blipFill>
          <a:blip r:embed="rId3"/>
          <a:srcRect l="60" r="60"/>
          <a:stretch>
            <a:fillRect/>
          </a:stretch>
        </p:blipFill>
        <p:spPr>
          <a:xfrm flipH="1">
            <a:off x="0" y="-1905"/>
            <a:ext cx="5273040" cy="684720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506517" y="2024380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150202" y="2052059"/>
            <a:ext cx="4469663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506517" y="2720340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150202" y="2747981"/>
            <a:ext cx="4469663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需求核心内容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506517" y="3415665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150202" y="3443306"/>
            <a:ext cx="4469663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界面原型与用户反馈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506517" y="4110990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150202" y="4138631"/>
            <a:ext cx="4469663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文档完整性说明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506517" y="4806315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150202" y="4833956"/>
            <a:ext cx="4469663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项目执行与团队情况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33:07-d2t6g0tnfo2stf9dif10.png"/>
          <p:cNvPicPr>
            <a:picLocks noChangeAspect="1"/>
          </p:cNvPicPr>
          <p:nvPr/>
        </p:nvPicPr>
        <p:blipFill>
          <a:blip r:embed="rId3"/>
          <a:srcRect l="60" r="60"/>
          <a:stretch>
            <a:fillRect/>
          </a:stretch>
        </p:blipFill>
        <p:spPr>
          <a:xfrm flipH="1">
            <a:off x="0" y="-1905"/>
            <a:ext cx="5273040" cy="68472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5400000">
            <a:off x="6019800" y="2760579"/>
            <a:ext cx="293611" cy="293736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4" name="Text 1"/>
          <p:cNvSpPr/>
          <p:nvPr/>
        </p:nvSpPr>
        <p:spPr>
          <a:xfrm rot="5400000">
            <a:off x="6019800" y="2760579"/>
            <a:ext cx="293611" cy="2937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rot="5400000">
            <a:off x="6132727" y="2873554"/>
            <a:ext cx="293611" cy="293736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6" name="Text 3"/>
          <p:cNvSpPr/>
          <p:nvPr/>
        </p:nvSpPr>
        <p:spPr>
          <a:xfrm rot="5400000">
            <a:off x="6132727" y="2873554"/>
            <a:ext cx="293611" cy="2937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5400000">
            <a:off x="6019800" y="4033079"/>
            <a:ext cx="293611" cy="293331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8" name="Text 5"/>
          <p:cNvSpPr/>
          <p:nvPr/>
        </p:nvSpPr>
        <p:spPr>
          <a:xfrm rot="5400000">
            <a:off x="6019800" y="4033079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6132727" y="4145899"/>
            <a:ext cx="293611" cy="293331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 rot="5400000">
            <a:off x="6132727" y="4145899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94705" y="458470"/>
            <a:ext cx="3513455" cy="1289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    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>
                    <a:alpha val="28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06517" y="2731770"/>
            <a:ext cx="68659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50202" y="2759449"/>
            <a:ext cx="4469663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总结与后续计划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06517" y="4004310"/>
            <a:ext cx="68659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50202" y="4031951"/>
            <a:ext cx="4469663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参考材料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2193200" cy="6861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1882140"/>
            <a:ext cx="12161520" cy="3093720"/>
          </a:xfrm>
          <a:prstGeom prst="rect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445" y="1882140"/>
            <a:ext cx="12161520" cy="3093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6" name="Image 0" descr="https://kimi-img.moonshot.cn/pub/slides/slides_tmpl/image/25-09-05-12:33:05-d2t6g0dnfo2stf9die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410335"/>
            <a:ext cx="4041775" cy="40417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5835" y="195961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5835" y="3345815"/>
            <a:ext cx="4779645" cy="683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221220" y="1875155"/>
            <a:ext cx="3108325" cy="3108325"/>
          </a:xfrm>
          <a:prstGeom prst="ellipse">
            <a:avLst/>
          </a:prstGeom>
          <a:solidFill>
            <a:srgbClr val="000000">
              <a:alpha val="25882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7221220" y="1875155"/>
            <a:ext cx="3108325" cy="31083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3" name="Text 1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0930" y="40894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城小二定位与核心价值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0262" y="1626235"/>
            <a:ext cx="3187768" cy="822960"/>
          </a:xfrm>
          <a:prstGeom prst="rect">
            <a:avLst/>
          </a:prstGeom>
          <a:solidFill>
            <a:srgbClr val="535560"/>
          </a:solidFill>
        </p:spPr>
      </p:sp>
      <p:sp>
        <p:nvSpPr>
          <p:cNvPr id="12" name="Text 10"/>
          <p:cNvSpPr/>
          <p:nvPr/>
        </p:nvSpPr>
        <p:spPr>
          <a:xfrm>
            <a:off x="1370262" y="1626235"/>
            <a:ext cx="3187768" cy="8229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46370" y="1626235"/>
            <a:ext cx="3187700" cy="822960"/>
          </a:xfrm>
          <a:prstGeom prst="rect">
            <a:avLst/>
          </a:prstGeom>
          <a:solidFill>
            <a:srgbClr val="535560"/>
          </a:solidFill>
        </p:spPr>
      </p:sp>
      <p:sp>
        <p:nvSpPr>
          <p:cNvPr id="14" name="Text 12"/>
          <p:cNvSpPr/>
          <p:nvPr/>
        </p:nvSpPr>
        <p:spPr>
          <a:xfrm>
            <a:off x="5246370" y="1626235"/>
            <a:ext cx="3187700" cy="8229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5" name="Image 0" descr="https://kimi-img.moonshot.cn/pub/slides/slides_tmpl/image/25-09-05-12:33:08-d2t6g15nfo2stf9dif3g.jpg"/>
          <p:cNvPicPr>
            <a:picLocks noChangeAspect="1"/>
          </p:cNvPicPr>
          <p:nvPr/>
        </p:nvPicPr>
        <p:blipFill>
          <a:blip r:embed="rId3"/>
          <a:srcRect l="6356" r="6356"/>
          <a:stretch>
            <a:fillRect/>
          </a:stretch>
        </p:blipFill>
        <p:spPr>
          <a:xfrm>
            <a:off x="9338310" y="-635"/>
            <a:ext cx="2120265" cy="685863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867910" y="1638935"/>
            <a:ext cx="21590" cy="3716020"/>
          </a:xfrm>
          <a:prstGeom prst="straightConnector1">
            <a:avLst/>
          </a:prstGeom>
          <a:noFill/>
          <a:ln w="12700">
            <a:solidFill>
              <a:srgbClr val="FFFFFF"/>
            </a:solidFill>
            <a:prstDash val="dash"/>
            <a:headEnd type="none"/>
            <a:tailEnd type="none"/>
          </a:ln>
        </p:spPr>
      </p:sp>
      <p:sp>
        <p:nvSpPr>
          <p:cNvPr id="17" name="Text 14"/>
          <p:cNvSpPr/>
          <p:nvPr/>
        </p:nvSpPr>
        <p:spPr>
          <a:xfrm>
            <a:off x="1420846" y="1675765"/>
            <a:ext cx="3029886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30分钟校内零食直达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69695" y="2730500"/>
            <a:ext cx="3085632" cy="280606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聚焦夜间与课间高峰，宿舍区30分钟送达，解决校园超市时空受限、排队久、品类少的痛点，打造即时零售新场景。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296952" y="1675765"/>
            <a:ext cx="3029822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轻量化微信小程序入口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50773" y="2730500"/>
            <a:ext cx="3079892" cy="27406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无需下载，微信一键授权即可下单；商品分类+夜间特供专区，贴合学生夜宵与能量补给习惯，提升复购率。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33:09-d2t6g1dnfo2stf9dif70.jpg"/>
          <p:cNvPicPr>
            <a:picLocks noChangeAspect="1"/>
          </p:cNvPicPr>
          <p:nvPr/>
        </p:nvPicPr>
        <p:blipFill>
          <a:blip r:embed="rId3"/>
          <a:srcRect t="1946" b="1946"/>
          <a:stretch>
            <a:fillRect/>
          </a:stretch>
        </p:blipFill>
        <p:spPr>
          <a:xfrm>
            <a:off x="649605" y="1215390"/>
            <a:ext cx="3772535" cy="48621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81450" y="5556885"/>
            <a:ext cx="668020" cy="727075"/>
          </a:xfrm>
          <a:prstGeom prst="roundRect">
            <a:avLst>
              <a:gd name="adj" fmla="val 10513"/>
            </a:avLst>
          </a:prstGeom>
          <a:solidFill>
            <a:srgbClr val="808080"/>
          </a:solidFill>
        </p:spPr>
      </p:sp>
      <p:sp>
        <p:nvSpPr>
          <p:cNvPr id="4" name="Text 1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871720" y="3264535"/>
            <a:ext cx="3194685" cy="270764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871720" y="3264535"/>
            <a:ext cx="3194685" cy="27076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93100" y="3289935"/>
            <a:ext cx="3157220" cy="269684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93100" y="3289935"/>
            <a:ext cx="3157220" cy="26968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16200000">
            <a:off x="7357085" y="-775995"/>
            <a:ext cx="108000" cy="5166995"/>
          </a:xfrm>
          <a:prstGeom prst="parallelogram">
            <a:avLst/>
          </a:prstGeom>
          <a:gradFill flip="none" rotWithShape="1">
            <a:gsLst>
              <a:gs pos="0">
                <a:srgbClr val="FFFFFF"/>
              </a:gs>
              <a:gs pos="28000">
                <a:srgbClr val="FFFFFF"/>
              </a:gs>
              <a:gs pos="100000">
                <a:srgbClr val="636563">
                  <a:alpha val="0"/>
                </a:srgbClr>
              </a:gs>
            </a:gsLst>
            <a:lin ang="5400000" scaled="1"/>
          </a:gradFill>
        </p:spPr>
      </p:sp>
      <p:sp>
        <p:nvSpPr>
          <p:cNvPr id="10" name="Text 7"/>
          <p:cNvSpPr/>
          <p:nvPr/>
        </p:nvSpPr>
        <p:spPr>
          <a:xfrm rot="16200000">
            <a:off x="7357085" y="-775995"/>
            <a:ext cx="108000" cy="51669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032000" y="1793240"/>
            <a:ext cx="4064000" cy="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13" name="Text 10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15" name="Text 12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23645" y="41021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产品边界与多端矩阵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02505" y="1184275"/>
            <a:ext cx="455104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一期边界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802505" y="1900555"/>
            <a:ext cx="6647815" cy="5716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只做校内零食，不做校外、餐饮或团购；核心功能闭环即可上线，降低初期复杂度与合规风险。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48250" y="3480435"/>
            <a:ext cx="3100705" cy="245467"/>
          </a:xfrm>
          <a:prstGeom prst="rect">
            <a:avLst/>
          </a:prstGeom>
          <a:noFill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三端协同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48250" y="3843655"/>
            <a:ext cx="2872740" cy="8576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用户端小程序负责浏览下单，配送员端小程序完成接单配送，Web管理端统一商品订单数据，实现运营闭环。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472805" y="3502025"/>
            <a:ext cx="3100705" cy="245467"/>
          </a:xfrm>
          <a:prstGeom prst="rect">
            <a:avLst/>
          </a:prstGeom>
          <a:noFill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二期预留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418195" y="3862070"/>
            <a:ext cx="2872740" cy="8576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接口与数据结构预留公众号联动、非零食类目、校外配送扩展位，支持后续平滑升级，保护现有投资。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2193200" cy="6861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1882140"/>
            <a:ext cx="12161520" cy="3093720"/>
          </a:xfrm>
          <a:prstGeom prst="rect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445" y="1882140"/>
            <a:ext cx="12161520" cy="3093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6" name="Image 0" descr="https://kimi-img.moonshot.cn/pub/slides/slides_tmpl/image/25-09-05-12:33:05-d2t6g0dnfo2stf9die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410335"/>
            <a:ext cx="4041775" cy="40417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5835" y="195961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5835" y="3345815"/>
            <a:ext cx="4779645" cy="683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需求核心内容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221220" y="1875155"/>
            <a:ext cx="3108325" cy="3108325"/>
          </a:xfrm>
          <a:prstGeom prst="ellipse">
            <a:avLst/>
          </a:prstGeom>
          <a:solidFill>
            <a:srgbClr val="000000">
              <a:alpha val="25882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7221220" y="1875155"/>
            <a:ext cx="3108325" cy="31083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3" name="Text 1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24560" y="34544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三类用户画像与核心诉求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2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422910" y="6374130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9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9910" y="6374130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20340000" flipV="1">
            <a:off x="4370070" y="1842453"/>
            <a:ext cx="3481070" cy="3378200"/>
          </a:xfrm>
          <a:prstGeom prst="pie">
            <a:avLst>
              <a:gd name="adj1" fmla="val 0"/>
              <a:gd name="adj2" fmla="val 3316091"/>
            </a:avLst>
          </a:prstGeom>
          <a:solidFill>
            <a:srgbClr val="808080"/>
          </a:solidFill>
        </p:spPr>
      </p:sp>
      <p:sp>
        <p:nvSpPr>
          <p:cNvPr id="12" name="Text 10"/>
          <p:cNvSpPr/>
          <p:nvPr/>
        </p:nvSpPr>
        <p:spPr>
          <a:xfrm rot="20340000">
            <a:off x="4370070" y="1842453"/>
            <a:ext cx="3481070" cy="3378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rot="21120000" flipH="1" flipV="1">
            <a:off x="4283075" y="1934528"/>
            <a:ext cx="3445510" cy="3445510"/>
          </a:xfrm>
          <a:prstGeom prst="pie">
            <a:avLst>
              <a:gd name="adj1" fmla="val 0"/>
              <a:gd name="adj2" fmla="val 3316091"/>
            </a:avLst>
          </a:prstGeom>
          <a:solidFill>
            <a:srgbClr val="808080"/>
          </a:solidFill>
        </p:spPr>
      </p:sp>
      <p:sp>
        <p:nvSpPr>
          <p:cNvPr id="14" name="Text 12"/>
          <p:cNvSpPr/>
          <p:nvPr/>
        </p:nvSpPr>
        <p:spPr>
          <a:xfrm rot="21120000">
            <a:off x="4283075" y="1934528"/>
            <a:ext cx="3445510" cy="34455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 rot="3300000">
            <a:off x="4385945" y="2061528"/>
            <a:ext cx="3445510" cy="3445510"/>
          </a:xfrm>
          <a:prstGeom prst="pie">
            <a:avLst>
              <a:gd name="adj1" fmla="val 0"/>
              <a:gd name="adj2" fmla="val 3316091"/>
            </a:avLst>
          </a:prstGeom>
          <a:solidFill>
            <a:srgbClr val="808080"/>
          </a:solidFill>
        </p:spPr>
      </p:sp>
      <p:sp>
        <p:nvSpPr>
          <p:cNvPr id="16" name="Text 14"/>
          <p:cNvSpPr/>
          <p:nvPr/>
        </p:nvSpPr>
        <p:spPr>
          <a:xfrm rot="3300000">
            <a:off x="4385945" y="2061528"/>
            <a:ext cx="3445510" cy="34455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85945" y="1948498"/>
            <a:ext cx="3445510" cy="344551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390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5945" y="1948498"/>
            <a:ext cx="3445510" cy="34455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3530" y="1537335"/>
            <a:ext cx="85090" cy="328930"/>
          </a:xfrm>
          <a:prstGeom prst="rect">
            <a:avLst/>
          </a:prstGeom>
          <a:solidFill>
            <a:srgbClr val="C8C9C8"/>
          </a:solidFill>
        </p:spPr>
      </p:sp>
      <p:sp>
        <p:nvSpPr>
          <p:cNvPr id="20" name="Text 18"/>
          <p:cNvSpPr/>
          <p:nvPr/>
        </p:nvSpPr>
        <p:spPr>
          <a:xfrm>
            <a:off x="4113530" y="1537335"/>
            <a:ext cx="85090" cy="3289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113530" y="3912235"/>
            <a:ext cx="85090" cy="328930"/>
          </a:xfrm>
          <a:prstGeom prst="rect">
            <a:avLst/>
          </a:prstGeom>
          <a:solidFill>
            <a:srgbClr val="C8C9C8"/>
          </a:solidFill>
        </p:spPr>
      </p:sp>
      <p:sp>
        <p:nvSpPr>
          <p:cNvPr id="22" name="Text 20"/>
          <p:cNvSpPr/>
          <p:nvPr/>
        </p:nvSpPr>
        <p:spPr>
          <a:xfrm>
            <a:off x="4113530" y="3912235"/>
            <a:ext cx="85090" cy="3289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22895" y="1550035"/>
            <a:ext cx="85090" cy="328930"/>
          </a:xfrm>
          <a:prstGeom prst="rect">
            <a:avLst/>
          </a:prstGeom>
          <a:solidFill>
            <a:srgbClr val="C8C9C8"/>
          </a:solidFill>
        </p:spPr>
      </p:sp>
      <p:sp>
        <p:nvSpPr>
          <p:cNvPr id="24" name="Text 22"/>
          <p:cNvSpPr/>
          <p:nvPr/>
        </p:nvSpPr>
        <p:spPr>
          <a:xfrm>
            <a:off x="7922895" y="1550035"/>
            <a:ext cx="85090" cy="3289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922895" y="3924935"/>
            <a:ext cx="85090" cy="328930"/>
          </a:xfrm>
          <a:prstGeom prst="rect">
            <a:avLst/>
          </a:prstGeom>
          <a:solidFill>
            <a:srgbClr val="C8C9C8"/>
          </a:solidFill>
        </p:spPr>
      </p:sp>
      <p:sp>
        <p:nvSpPr>
          <p:cNvPr id="26" name="Text 24"/>
          <p:cNvSpPr/>
          <p:nvPr/>
        </p:nvSpPr>
        <p:spPr>
          <a:xfrm>
            <a:off x="7922895" y="3924935"/>
            <a:ext cx="85090" cy="3289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7" name="Image 0" descr="https://kimi-img.moonshot.cn/pub/slides/slides_tmpl/image/25-09-05-12:33:10-d2t6g1lnfo2stf9dif9g.png"/>
          <p:cNvPicPr>
            <a:picLocks noChangeAspect="1"/>
          </p:cNvPicPr>
          <p:nvPr/>
        </p:nvPicPr>
        <p:blipFill>
          <a:blip r:embed="rId3"/>
          <a:srcRect t="83" b="83"/>
          <a:stretch>
            <a:fillRect/>
          </a:stretch>
        </p:blipFill>
        <p:spPr>
          <a:xfrm>
            <a:off x="4424680" y="1948815"/>
            <a:ext cx="3356610" cy="3444875"/>
          </a:xfrm>
          <a:prstGeom prst="ellipse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269875" y="1502410"/>
            <a:ext cx="3844925" cy="30678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普通学生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64820" y="1887220"/>
            <a:ext cx="3649980" cy="8187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18-22岁，微信原生，夜间零食需求高；要求2步完成下单、价格透明、配送可追踪，体验决定留存。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271145" y="3877310"/>
            <a:ext cx="3843655" cy="30678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兼职配送员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03555" y="4218305"/>
            <a:ext cx="3611245" cy="8187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课余时间灵活，熟悉楼宇路线；需要一键接单、佣金实时可见、T+1提现无门槛，激励充足才留得住。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011160" y="1502410"/>
            <a:ext cx="3844925" cy="30678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项目管理员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011160" y="1887220"/>
            <a:ext cx="3610610" cy="8187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团队运营核心，需商品上下架、订单异常干预、数据日报一键导出，后台功能全且易排查故障。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011160" y="3877310"/>
            <a:ext cx="3844925" cy="30678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共性痛点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011160" y="4218305"/>
            <a:ext cx="3610610" cy="8187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三端均强调“透明”：价格、佣金、数据实时可见，降低信任成本，提升平台公信力与活跃度。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33:07-d2t6g0tnfo2stf9dif0g.jpg"/>
          <p:cNvPicPr>
            <a:picLocks noChangeAspect="1"/>
          </p:cNvPicPr>
          <p:nvPr/>
        </p:nvPicPr>
        <p:blipFill>
          <a:blip r:embed="rId3"/>
          <a:srcRect t="9125" b="9125"/>
          <a:stretch>
            <a:fillRect/>
          </a:stretch>
        </p:blipFill>
        <p:spPr>
          <a:xfrm>
            <a:off x="0" y="4997450"/>
            <a:ext cx="12192000" cy="1860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4" name="Text 1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6" name="Text 3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0930" y="40894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功能全景与关键链路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97560" y="838557"/>
            <a:ext cx="9935845" cy="4114800"/>
          </a:xfrm>
          <a:prstGeom prst="roundRect">
            <a:avLst>
              <a:gd name="adj" fmla="val 0"/>
            </a:avLst>
          </a:prstGeom>
          <a:solidFill>
            <a:srgbClr val="535560"/>
          </a:solidFill>
          <a:ln w="19050">
            <a:solidFill>
              <a:srgbClr val="5355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28395" y="1508760"/>
            <a:ext cx="9935845" cy="41148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1147" y="3566160"/>
            <a:ext cx="92160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/>
          <p:nvPr/>
        </p:nvSpPr>
        <p:spPr>
          <a:xfrm>
            <a:off x="1231265" y="1863725"/>
            <a:ext cx="927227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端到端闭环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31265" y="2273300"/>
            <a:ext cx="9295130" cy="5716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用户浏览→加车→支付→订单追踪→收货评价；配送员接单→取货→送达→佣金入账；管理端实时监控与干预，链路无缝衔接。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1265" y="3773805"/>
            <a:ext cx="927227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关键异常处理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31265" y="4183380"/>
            <a:ext cx="9295130" cy="285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缺货自动退款、配送超时预警、恶意退单标记、库存锁定与回补机制，保障高峰场景下系统稳健运行。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3" name="Text 1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1710" y="34544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非功能指标与合规要求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06500" y="1489075"/>
            <a:ext cx="4816475" cy="701040"/>
          </a:xfrm>
          <a:prstGeom prst="roundRect">
            <a:avLst>
              <a:gd name="adj" fmla="val 0"/>
            </a:avLst>
          </a:prstGeom>
          <a:solidFill>
            <a:srgbClr val="535560"/>
          </a:solidFill>
        </p:spPr>
      </p:sp>
      <p:sp>
        <p:nvSpPr>
          <p:cNvPr id="12" name="Text 10"/>
          <p:cNvSpPr/>
          <p:nvPr/>
        </p:nvSpPr>
        <p:spPr>
          <a:xfrm>
            <a:off x="1206500" y="1489075"/>
            <a:ext cx="4816475" cy="7010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06500" y="2449195"/>
            <a:ext cx="4816475" cy="329184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19050">
            <a:solidFill>
              <a:srgbClr val="535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6500" y="2449195"/>
            <a:ext cx="4816475" cy="32918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5" name="Image 0" descr="https://kimi-img.moonshot.cn/pub/slides/slides_tmpl/image/25-09-05-12:33:07-d2t6g0tnfo2stf9dif1g.jpg"/>
          <p:cNvPicPr>
            <a:picLocks noChangeAspect="1"/>
          </p:cNvPicPr>
          <p:nvPr/>
        </p:nvPicPr>
        <p:blipFill>
          <a:blip r:embed="rId3"/>
          <a:srcRect l="1337" r="1337"/>
          <a:stretch>
            <a:fillRect/>
          </a:stretch>
        </p:blipFill>
        <p:spPr>
          <a:xfrm>
            <a:off x="6664325" y="1489075"/>
            <a:ext cx="4758055" cy="425132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07753" y="1602105"/>
            <a:ext cx="461397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性能+稳定+合规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53515" y="2621280"/>
            <a:ext cx="4322445" cy="14265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页面≤2秒、接口≤500毫秒、500并发在线；7×24可用性≥99.5%，数据零丢失；加密存储手机号与地址，符合微信小程序平台运营规范及校园安全管理规定。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2193200" cy="6861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1882140"/>
            <a:ext cx="12161520" cy="3093720"/>
          </a:xfrm>
          <a:prstGeom prst="rect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445" y="1882140"/>
            <a:ext cx="12161520" cy="3093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6" name="Image 0" descr="https://kimi-img.moonshot.cn/pub/slides/slides_tmpl/image/25-09-05-12:33:05-d2t6g0dnfo2stf9die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410335"/>
            <a:ext cx="4041775" cy="40417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5835" y="195961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5835" y="3345815"/>
            <a:ext cx="4779645" cy="14370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界面原型与用户反馈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221220" y="1875155"/>
            <a:ext cx="3108325" cy="3108325"/>
          </a:xfrm>
          <a:prstGeom prst="ellipse">
            <a:avLst/>
          </a:prstGeom>
          <a:solidFill>
            <a:srgbClr val="000000">
              <a:alpha val="25882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7221220" y="1875155"/>
            <a:ext cx="3108325" cy="31083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4EEA7-DFF8-6DEB-89D3-1149E7614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29A362-1B6B-A9D0-C012-C8F92D9DF532}"/>
              </a:ext>
            </a:extLst>
          </p:cNvPr>
          <p:cNvSpPr/>
          <p:nvPr/>
        </p:nvSpPr>
        <p:spPr>
          <a:xfrm>
            <a:off x="0" y="6325235"/>
            <a:ext cx="12190730" cy="534035"/>
          </a:xfrm>
          <a:prstGeom prst="rect">
            <a:avLst/>
          </a:prstGeom>
          <a:solidFill>
            <a:srgbClr val="3E4048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0EA5E4-0B12-7C61-A656-37F7AAAD6032}"/>
              </a:ext>
            </a:extLst>
          </p:cNvPr>
          <p:cNvSpPr/>
          <p:nvPr/>
        </p:nvSpPr>
        <p:spPr>
          <a:xfrm>
            <a:off x="0" y="6325235"/>
            <a:ext cx="12190730" cy="534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377E914-4608-8956-9528-CA1086333165}"/>
              </a:ext>
            </a:extLst>
          </p:cNvPr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3E12F4-712B-ED1A-5258-2626771C35B2}"/>
              </a:ext>
            </a:extLst>
          </p:cNvPr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9547BEC-E419-EBE4-5376-2642AC2D1D86}"/>
              </a:ext>
            </a:extLst>
          </p:cNvPr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8F9D95-A4A5-4FC1-E3E7-81032E230F9E}"/>
              </a:ext>
            </a:extLst>
          </p:cNvPr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D4D264-29E1-B282-1E3E-DCCFE12AF05D}"/>
              </a:ext>
            </a:extLst>
          </p:cNvPr>
          <p:cNvSpPr/>
          <p:nvPr/>
        </p:nvSpPr>
        <p:spPr>
          <a:xfrm>
            <a:off x="1223645" y="41021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三端原型关键页面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EF3CEA4-4071-1059-2A4D-2F31F9C9676C}"/>
              </a:ext>
            </a:extLst>
          </p:cNvPr>
          <p:cNvSpPr/>
          <p:nvPr/>
        </p:nvSpPr>
        <p:spPr>
          <a:xfrm>
            <a:off x="3796030" y="1413510"/>
            <a:ext cx="8031480" cy="46024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53556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048E7F8-F755-79FF-D6EC-C38740AE8906}"/>
              </a:ext>
            </a:extLst>
          </p:cNvPr>
          <p:cNvSpPr/>
          <p:nvPr/>
        </p:nvSpPr>
        <p:spPr>
          <a:xfrm>
            <a:off x="3796030" y="1413510"/>
            <a:ext cx="8031480" cy="46024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3" name="Image 0" descr="https://kimi-img.moonshot.cn/pub/slides/slides_tmpl/image/25-09-05-12:33:09-d2t6g1dnfo2stf9dif6g.jpg">
            <a:extLst>
              <a:ext uri="{FF2B5EF4-FFF2-40B4-BE49-F238E27FC236}">
                <a16:creationId xmlns:a16="http://schemas.microsoft.com/office/drawing/2014/main" id="{507E769E-D818-9196-381D-D13382AAD2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68" b="8568"/>
          <a:stretch>
            <a:fillRect/>
          </a:stretch>
        </p:blipFill>
        <p:spPr>
          <a:xfrm>
            <a:off x="796925" y="1413510"/>
            <a:ext cx="2767965" cy="4602480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9348558A-5D08-C7D1-35A6-4933CAA4A434}"/>
              </a:ext>
            </a:extLst>
          </p:cNvPr>
          <p:cNvSpPr/>
          <p:nvPr/>
        </p:nvSpPr>
        <p:spPr>
          <a:xfrm>
            <a:off x="4038600" y="1572895"/>
            <a:ext cx="761746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用户端</a:t>
            </a:r>
            <a:endParaRPr lang="en-US" sz="16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A59C8EC-5B0E-5A73-6982-98784842CBBB}"/>
              </a:ext>
            </a:extLst>
          </p:cNvPr>
          <p:cNvSpPr/>
          <p:nvPr/>
        </p:nvSpPr>
        <p:spPr>
          <a:xfrm>
            <a:off x="4038600" y="1941830"/>
            <a:ext cx="7616190" cy="5716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首页顶部轮播+分类导航，夜间特供独立楼层；购物车实时计算配送费；订单列表状态标签+倒计时，降低焦虑。</a:t>
            </a:r>
            <a:endParaRPr lang="en-US" sz="16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5D34572-CD6A-5DF2-8880-655E3BE44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2575679"/>
            <a:ext cx="1493082" cy="323567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0B5399D-F16E-FEB0-AF8F-66A9B14AEC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2605" y="2575678"/>
            <a:ext cx="1518703" cy="323567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81DDA1B-D702-F478-0B89-E6D0EF85B8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2232" y="2575679"/>
            <a:ext cx="1502843" cy="323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3112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5235"/>
            <a:ext cx="12190730" cy="534035"/>
          </a:xfrm>
          <a:prstGeom prst="rect">
            <a:avLst/>
          </a:prstGeom>
          <a:solidFill>
            <a:srgbClr val="3E4048"/>
          </a:solidFill>
        </p:spPr>
      </p:sp>
      <p:sp>
        <p:nvSpPr>
          <p:cNvPr id="3" name="Text 1"/>
          <p:cNvSpPr/>
          <p:nvPr/>
        </p:nvSpPr>
        <p:spPr>
          <a:xfrm>
            <a:off x="0" y="6325235"/>
            <a:ext cx="12190730" cy="534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5" name="Text 3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23645" y="41021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三端原型关键页面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96030" y="1413510"/>
            <a:ext cx="8031480" cy="46024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3" name="Image 0" descr="https://kimi-img.moonshot.cn/pub/slides/slides_tmpl/image/25-09-05-12:33:09-d2t6g1dnfo2stf9dif6g.jpg"/>
          <p:cNvPicPr>
            <a:picLocks noChangeAspect="1"/>
          </p:cNvPicPr>
          <p:nvPr/>
        </p:nvPicPr>
        <p:blipFill>
          <a:blip r:embed="rId3"/>
          <a:srcRect t="8568" b="8568"/>
          <a:stretch>
            <a:fillRect/>
          </a:stretch>
        </p:blipFill>
        <p:spPr>
          <a:xfrm>
            <a:off x="796925" y="1413510"/>
            <a:ext cx="2767965" cy="4602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095750" y="1407934"/>
            <a:ext cx="75603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配送员端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095750" y="1856740"/>
            <a:ext cx="7616190" cy="6295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待接订单按楼层距离排序，一键抢单；配送地图标注取货点与宿舍热力图，送达拍照上传，佣金秒级刷新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 </a:t>
            </a:r>
            <a:endParaRPr lang="en-US" sz="16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FA302A7-17CC-E78F-C299-5E1C3EBA8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414" y="2433925"/>
            <a:ext cx="1667513" cy="358206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D9EFEFB-1386-C2D8-3BBF-9E2349C56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8517" y="2486465"/>
            <a:ext cx="1655557" cy="35295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9A19B-ADD4-B5C8-A182-D32ADC13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EF69DB-CC9F-BF23-2A5A-4EB8CC05E109}"/>
              </a:ext>
            </a:extLst>
          </p:cNvPr>
          <p:cNvSpPr/>
          <p:nvPr/>
        </p:nvSpPr>
        <p:spPr>
          <a:xfrm>
            <a:off x="0" y="6325235"/>
            <a:ext cx="12190730" cy="534035"/>
          </a:xfrm>
          <a:prstGeom prst="rect">
            <a:avLst/>
          </a:prstGeom>
          <a:solidFill>
            <a:srgbClr val="3E4048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80DB9A-C7F2-8C26-C7D5-E3372750B837}"/>
              </a:ext>
            </a:extLst>
          </p:cNvPr>
          <p:cNvSpPr/>
          <p:nvPr/>
        </p:nvSpPr>
        <p:spPr>
          <a:xfrm>
            <a:off x="0" y="6325235"/>
            <a:ext cx="12190730" cy="534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03F06A-DD76-6253-D06D-7482A0E8E35E}"/>
              </a:ext>
            </a:extLst>
          </p:cNvPr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C90DAF-042A-BB29-76A7-FEA22B5809DE}"/>
              </a:ext>
            </a:extLst>
          </p:cNvPr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141E86D-CF3C-67D1-4022-418B6F1D8722}"/>
              </a:ext>
            </a:extLst>
          </p:cNvPr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D35101-B175-C092-6F01-59C0DCBA1B44}"/>
              </a:ext>
            </a:extLst>
          </p:cNvPr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CDEA8E-70B5-50C4-D2E4-AF2588CD7155}"/>
              </a:ext>
            </a:extLst>
          </p:cNvPr>
          <p:cNvSpPr/>
          <p:nvPr/>
        </p:nvSpPr>
        <p:spPr>
          <a:xfrm>
            <a:off x="1223645" y="41021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三端原型关键页面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40D4E46-72A8-AFB8-8FEF-1C66D7159FF4}"/>
              </a:ext>
            </a:extLst>
          </p:cNvPr>
          <p:cNvSpPr/>
          <p:nvPr/>
        </p:nvSpPr>
        <p:spPr>
          <a:xfrm>
            <a:off x="3796030" y="1413510"/>
            <a:ext cx="8031480" cy="46024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3" name="Image 0" descr="https://kimi-img.moonshot.cn/pub/slides/slides_tmpl/image/25-09-05-12:33:09-d2t6g1dnfo2stf9dif6g.jpg">
            <a:extLst>
              <a:ext uri="{FF2B5EF4-FFF2-40B4-BE49-F238E27FC236}">
                <a16:creationId xmlns:a16="http://schemas.microsoft.com/office/drawing/2014/main" id="{BC32A38C-3298-4DEA-5736-A601EDD4CC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68" b="8568"/>
          <a:stretch>
            <a:fillRect/>
          </a:stretch>
        </p:blipFill>
        <p:spPr>
          <a:xfrm>
            <a:off x="796925" y="1413510"/>
            <a:ext cx="2767965" cy="4602480"/>
          </a:xfrm>
          <a:prstGeom prst="rect">
            <a:avLst/>
          </a:prstGeom>
        </p:spPr>
      </p:pic>
      <p:sp>
        <p:nvSpPr>
          <p:cNvPr id="18" name="Text 15">
            <a:extLst>
              <a:ext uri="{FF2B5EF4-FFF2-40B4-BE49-F238E27FC236}">
                <a16:creationId xmlns:a16="http://schemas.microsoft.com/office/drawing/2014/main" id="{599386E5-B7FA-54EE-E85B-1E817399269B}"/>
              </a:ext>
            </a:extLst>
          </p:cNvPr>
          <p:cNvSpPr/>
          <p:nvPr/>
        </p:nvSpPr>
        <p:spPr>
          <a:xfrm>
            <a:off x="3796030" y="1413510"/>
            <a:ext cx="761746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管理端</a:t>
            </a:r>
            <a:endParaRPr lang="en-US" sz="1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61322D9-2111-4B4C-741C-001E46F9B20C}"/>
              </a:ext>
            </a:extLst>
          </p:cNvPr>
          <p:cNvSpPr/>
          <p:nvPr/>
        </p:nvSpPr>
        <p:spPr>
          <a:xfrm>
            <a:off x="3797300" y="1826879"/>
            <a:ext cx="7616190" cy="5716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商品批量导入、库存预警红线；订单异常红色高亮，支持改派、加补偿券；数据日报含客单价、高峰时段、复购率。</a:t>
            </a:r>
            <a:endParaRPr lang="en-US" sz="16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2B1D48F-31BA-488A-B10C-EE252EC45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035" y="2488669"/>
            <a:ext cx="1593893" cy="343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6095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7490A-892E-E80F-791C-E739E71C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07DFCD2-A257-BDBC-194A-7DB5F508B7E4}"/>
              </a:ext>
            </a:extLst>
          </p:cNvPr>
          <p:cNvSpPr/>
          <p:nvPr/>
        </p:nvSpPr>
        <p:spPr>
          <a:xfrm>
            <a:off x="594359" y="994410"/>
            <a:ext cx="6876957" cy="129530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BFB0F8D-6700-9656-FF5E-7423931E5491}"/>
              </a:ext>
            </a:extLst>
          </p:cNvPr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CD0534-6EDC-BE7F-FE93-08B2914062F8}"/>
              </a:ext>
            </a:extLst>
          </p:cNvPr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93544B4-2F62-49D0-A45B-7EE2566FE2CD}"/>
              </a:ext>
            </a:extLst>
          </p:cNvPr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29C99B-9F53-596F-66C9-8AFCB1FE74DE}"/>
              </a:ext>
            </a:extLst>
          </p:cNvPr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C934C5F-E88D-B5B0-5C48-7C4D86534875}"/>
              </a:ext>
            </a:extLst>
          </p:cNvPr>
          <p:cNvSpPr/>
          <p:nvPr/>
        </p:nvSpPr>
        <p:spPr>
          <a:xfrm>
            <a:off x="1129665" y="41021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用户认可与待优化点</a:t>
            </a:r>
            <a:endParaRPr lang="en-US" sz="1600" dirty="0"/>
          </a:p>
        </p:txBody>
      </p:sp>
      <p:pic>
        <p:nvPicPr>
          <p:cNvPr id="9" name="Image 0" descr="https://kimi-img.moonshot.cn/pub/slides/slides_tmpl/image/25-09-05-12:33:10-d2t6g1lnfo2stf9dif90.jpg">
            <a:extLst>
              <a:ext uri="{FF2B5EF4-FFF2-40B4-BE49-F238E27FC236}">
                <a16:creationId xmlns:a16="http://schemas.microsoft.com/office/drawing/2014/main" id="{5ADDC4A0-ED04-FFB7-686F-AB62B46F02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4" r="10004"/>
          <a:stretch>
            <a:fillRect/>
          </a:stretch>
        </p:blipFill>
        <p:spPr>
          <a:xfrm>
            <a:off x="9760585" y="0"/>
            <a:ext cx="2659380" cy="685863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B85603D5-A97E-B890-47D9-6158395B3323}"/>
              </a:ext>
            </a:extLst>
          </p:cNvPr>
          <p:cNvSpPr txBox="1"/>
          <p:nvPr/>
        </p:nvSpPr>
        <p:spPr>
          <a:xfrm>
            <a:off x="1271238" y="1219200"/>
            <a:ext cx="34940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用户信息</a:t>
            </a:r>
            <a:endParaRPr lang="en-US" altLang="zh-CN" b="1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	</a:t>
            </a:r>
            <a:r>
              <a:rPr lang="zh-CN" altLang="en-US" dirty="0">
                <a:solidFill>
                  <a:schemeClr val="bg1"/>
                </a:solidFill>
              </a:rPr>
              <a:t>姓名：陈冠廷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	</a:t>
            </a:r>
            <a:r>
              <a:rPr lang="zh-CN" altLang="en-US" dirty="0">
                <a:solidFill>
                  <a:schemeClr val="bg1"/>
                </a:solidFill>
              </a:rPr>
              <a:t>电话：</a:t>
            </a:r>
            <a:r>
              <a:rPr lang="en-US" altLang="zh-CN" dirty="0">
                <a:solidFill>
                  <a:schemeClr val="bg1"/>
                </a:solidFill>
              </a:rPr>
              <a:t>15907641743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15571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2558605"/>
            <a:ext cx="12192635" cy="1657985"/>
          </a:xfrm>
          <a:prstGeom prst="rect">
            <a:avLst/>
          </a:prstGeom>
          <a:solidFill>
            <a:srgbClr val="535560"/>
          </a:solidFill>
        </p:spPr>
      </p:sp>
      <p:sp>
        <p:nvSpPr>
          <p:cNvPr id="3" name="Text 1"/>
          <p:cNvSpPr/>
          <p:nvPr/>
        </p:nvSpPr>
        <p:spPr>
          <a:xfrm>
            <a:off x="0" y="1464310"/>
            <a:ext cx="12192635" cy="16579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5" name="Text 3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9665" y="41021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用户认可与待优化点</a:t>
            </a:r>
            <a:endParaRPr lang="en-US" sz="1600" dirty="0"/>
          </a:p>
        </p:txBody>
      </p:sp>
      <p:pic>
        <p:nvPicPr>
          <p:cNvPr id="9" name="Image 0" descr="https://kimi-img.moonshot.cn/pub/slides/slides_tmpl/image/25-09-05-12:33:10-d2t6g1lnfo2stf9dif90.jpg"/>
          <p:cNvPicPr>
            <a:picLocks noChangeAspect="1"/>
          </p:cNvPicPr>
          <p:nvPr/>
        </p:nvPicPr>
        <p:blipFill>
          <a:blip r:embed="rId3"/>
          <a:srcRect l="10004" r="10004"/>
          <a:stretch>
            <a:fillRect/>
          </a:stretch>
        </p:blipFill>
        <p:spPr>
          <a:xfrm>
            <a:off x="9760585" y="0"/>
            <a:ext cx="2659380" cy="6858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3233" y="3091117"/>
            <a:ext cx="4879340" cy="368300"/>
          </a:xfrm>
          <a:prstGeom prst="rect">
            <a:avLst/>
          </a:prstGeom>
          <a:solidFill>
            <a:srgbClr val="53556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认可亮点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3233" y="3645282"/>
            <a:ext cx="8907780" cy="10604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测试用户认为两步下单够快，夜间特供专区击中刚需，订单状态透明度高，愿意推荐给室友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2956" y="4334808"/>
            <a:ext cx="2542540" cy="24546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待优化①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5785" y="4721091"/>
            <a:ext cx="2542540" cy="8187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补充“预计送达时间”算法，结合骑手位置与历史耗时，减少用户等待焦虑与客服咨询量。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695499" y="4334809"/>
            <a:ext cx="2542540" cy="24546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待优化②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695499" y="4698494"/>
            <a:ext cx="2542540" cy="8187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新增“退款申请”按钮，支持未发货一键退；价格筛选区间记忆，提升高频复购效率。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54520" y="4341138"/>
            <a:ext cx="2542540" cy="24546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待优化③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54520" y="4698494"/>
            <a:ext cx="2542540" cy="1091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支付页金额拆分展示商品小计、配送费、优惠券；超时规则弹窗提示，降低因误解导致的差评。</a:t>
            </a:r>
            <a:endParaRPr lang="en-US" sz="16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ACFD8CC-21D2-DAE0-66CC-6A636B585A21}"/>
              </a:ext>
            </a:extLst>
          </p:cNvPr>
          <p:cNvSpPr txBox="1"/>
          <p:nvPr/>
        </p:nvSpPr>
        <p:spPr>
          <a:xfrm>
            <a:off x="467360" y="980643"/>
            <a:ext cx="62112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用户信息</a:t>
            </a:r>
            <a:endParaRPr lang="en-US" altLang="zh-CN" b="1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	</a:t>
            </a:r>
            <a:r>
              <a:rPr lang="zh-CN" altLang="en-US" dirty="0">
                <a:solidFill>
                  <a:schemeClr val="bg1"/>
                </a:solidFill>
              </a:rPr>
              <a:t>姓名：陈冠廷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	</a:t>
            </a:r>
            <a:r>
              <a:rPr lang="zh-CN" altLang="en-US" dirty="0">
                <a:solidFill>
                  <a:schemeClr val="bg1"/>
                </a:solidFill>
              </a:rPr>
              <a:t>电话：</a:t>
            </a:r>
            <a:r>
              <a:rPr lang="en-US" altLang="zh-CN" dirty="0">
                <a:solidFill>
                  <a:schemeClr val="bg1"/>
                </a:solidFill>
              </a:rPr>
              <a:t>15907641743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BA959-EBBE-8A45-6064-FDBBDAE50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7187570-91D9-7D7F-E9AC-8621379E3E97}"/>
              </a:ext>
            </a:extLst>
          </p:cNvPr>
          <p:cNvSpPr/>
          <p:nvPr/>
        </p:nvSpPr>
        <p:spPr>
          <a:xfrm>
            <a:off x="594359" y="994410"/>
            <a:ext cx="6876957" cy="129530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8B6DA7-ADE6-7382-77C1-060E17DFEEB1}"/>
              </a:ext>
            </a:extLst>
          </p:cNvPr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CE4EBB-45D1-1202-079D-3C2C6AD00B19}"/>
              </a:ext>
            </a:extLst>
          </p:cNvPr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FA0155C-DE10-D14F-BA39-52DE73B6414D}"/>
              </a:ext>
            </a:extLst>
          </p:cNvPr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2E19F8-1100-9603-E16C-56B5212E24DF}"/>
              </a:ext>
            </a:extLst>
          </p:cNvPr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CBFB54-0E73-76E5-7406-FA3AA39DABFE}"/>
              </a:ext>
            </a:extLst>
          </p:cNvPr>
          <p:cNvSpPr/>
          <p:nvPr/>
        </p:nvSpPr>
        <p:spPr>
          <a:xfrm>
            <a:off x="1129665" y="410210"/>
            <a:ext cx="1078293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SRS</a:t>
            </a:r>
            <a:r>
              <a:rPr lang="zh-CN" alt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相关内容展示</a:t>
            </a:r>
            <a:endParaRPr lang="en-US" altLang="zh-CN" sz="1600" dirty="0"/>
          </a:p>
        </p:txBody>
      </p:sp>
      <p:pic>
        <p:nvPicPr>
          <p:cNvPr id="9" name="Image 0" descr="https://kimi-img.moonshot.cn/pub/slides/slides_tmpl/image/25-09-05-12:33:10-d2t6g1lnfo2stf9dif90.jpg">
            <a:extLst>
              <a:ext uri="{FF2B5EF4-FFF2-40B4-BE49-F238E27FC236}">
                <a16:creationId xmlns:a16="http://schemas.microsoft.com/office/drawing/2014/main" id="{44671DA3-C39C-DA6D-4CE4-759152AB71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4" r="10004"/>
          <a:stretch>
            <a:fillRect/>
          </a:stretch>
        </p:blipFill>
        <p:spPr>
          <a:xfrm>
            <a:off x="9760585" y="0"/>
            <a:ext cx="2659380" cy="685863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1C82DAA-82BB-E727-81BF-475EB75E08B0}"/>
              </a:ext>
            </a:extLst>
          </p:cNvPr>
          <p:cNvSpPr txBox="1"/>
          <p:nvPr/>
        </p:nvSpPr>
        <p:spPr>
          <a:xfrm>
            <a:off x="797560" y="1128844"/>
            <a:ext cx="3494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E—R</a:t>
            </a:r>
            <a:r>
              <a:rPr lang="zh-CN" altLang="en-US" dirty="0">
                <a:solidFill>
                  <a:schemeClr val="bg1"/>
                </a:solidFill>
              </a:rPr>
              <a:t>图：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E3D0445-3F25-7F8E-6A22-E08DFFBEC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60" y="1642064"/>
            <a:ext cx="8784415" cy="480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5404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E96C7-5B6A-B812-B4F9-FCE3B2DF2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A562C87-146C-3F48-B40D-9AB8BCF5C23F}"/>
              </a:ext>
            </a:extLst>
          </p:cNvPr>
          <p:cNvSpPr/>
          <p:nvPr/>
        </p:nvSpPr>
        <p:spPr>
          <a:xfrm>
            <a:off x="594359" y="994410"/>
            <a:ext cx="6876957" cy="129530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C69B9C7-E81A-CAFF-1B10-E80F57088F94}"/>
              </a:ext>
            </a:extLst>
          </p:cNvPr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8B0F0EA-AC1B-5AB0-7BEE-B23E22EF8B6B}"/>
              </a:ext>
            </a:extLst>
          </p:cNvPr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03458C1-A8A3-E84A-AD4B-E8B2E9509D00}"/>
              </a:ext>
            </a:extLst>
          </p:cNvPr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F350828-7B3B-62C6-E17C-CF477941539A}"/>
              </a:ext>
            </a:extLst>
          </p:cNvPr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20A94B3-F49F-5CD4-32AF-131465033309}"/>
              </a:ext>
            </a:extLst>
          </p:cNvPr>
          <p:cNvSpPr/>
          <p:nvPr/>
        </p:nvSpPr>
        <p:spPr>
          <a:xfrm>
            <a:off x="1129665" y="410210"/>
            <a:ext cx="1078293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SRS</a:t>
            </a:r>
            <a:r>
              <a:rPr lang="zh-CN" alt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相关内容展示</a:t>
            </a:r>
            <a:endParaRPr lang="en-US" sz="1600" dirty="0"/>
          </a:p>
        </p:txBody>
      </p:sp>
      <p:pic>
        <p:nvPicPr>
          <p:cNvPr id="9" name="Image 0" descr="https://kimi-img.moonshot.cn/pub/slides/slides_tmpl/image/25-09-05-12:33:10-d2t6g1lnfo2stf9dif90.jpg">
            <a:extLst>
              <a:ext uri="{FF2B5EF4-FFF2-40B4-BE49-F238E27FC236}">
                <a16:creationId xmlns:a16="http://schemas.microsoft.com/office/drawing/2014/main" id="{2F46411B-E2F3-FC16-63F2-95707500A3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4" r="10004"/>
          <a:stretch>
            <a:fillRect/>
          </a:stretch>
        </p:blipFill>
        <p:spPr>
          <a:xfrm>
            <a:off x="9760585" y="0"/>
            <a:ext cx="2659380" cy="685863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0ECED7D-D63D-7CC8-6112-B19B79B82889}"/>
              </a:ext>
            </a:extLst>
          </p:cNvPr>
          <p:cNvSpPr txBox="1"/>
          <p:nvPr/>
        </p:nvSpPr>
        <p:spPr>
          <a:xfrm>
            <a:off x="632460" y="1219200"/>
            <a:ext cx="3494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数据字典（部分展示）：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1A96B40-81C2-9C16-4D5A-510B975C7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67" y="1588532"/>
            <a:ext cx="6610994" cy="512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001107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2193200" cy="6861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1882140"/>
            <a:ext cx="12161520" cy="3093720"/>
          </a:xfrm>
          <a:prstGeom prst="rect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445" y="1882140"/>
            <a:ext cx="12161520" cy="3093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6" name="Image 0" descr="https://kimi-img.moonshot.cn/pub/slides/slides_tmpl/image/25-09-05-12:33:05-d2t6g0dnfo2stf9die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410335"/>
            <a:ext cx="4041775" cy="40417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5835" y="195961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5835" y="3345815"/>
            <a:ext cx="4779645" cy="683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文档完整性说明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221220" y="1875155"/>
            <a:ext cx="3108325" cy="3108325"/>
          </a:xfrm>
          <a:prstGeom prst="ellipse">
            <a:avLst/>
          </a:prstGeom>
          <a:solidFill>
            <a:srgbClr val="000000">
              <a:alpha val="25882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7221220" y="1875155"/>
            <a:ext cx="3108325" cy="31083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3" name="Text 1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0930" y="40894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SRS规范与交付清单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9180" y="3534410"/>
            <a:ext cx="10080000" cy="0"/>
          </a:xfrm>
          <a:prstGeom prst="line">
            <a:avLst/>
          </a:prstGeom>
          <a:noFill/>
          <a:ln w="19050">
            <a:solidFill>
              <a:srgbClr val="535560"/>
            </a:solidFill>
            <a:prstDash val="solid"/>
            <a:headEnd type="none"/>
            <a:tailEnd type="none"/>
          </a:ln>
        </p:spPr>
      </p:sp>
      <p:pic>
        <p:nvPicPr>
          <p:cNvPr id="12" name="Image 0" descr="https://kimi-img.moonshot.cn/pub/slides/slides_tmpl/image/25-09-05-12:33:08-d2t6g15nfo2stf9dif40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0930" y="1203960"/>
            <a:ext cx="3368040" cy="2057400"/>
          </a:xfrm>
          <a:prstGeom prst="rect">
            <a:avLst/>
          </a:prstGeom>
        </p:spPr>
      </p:pic>
      <p:pic>
        <p:nvPicPr>
          <p:cNvPr id="13" name="Image 1" descr="https://kimi-img.moonshot.cn/pub/slides/slides_tmpl/image/25-09-05-12:33:08-d2t6g15nfo2stf9dif2g.jpg"/>
          <p:cNvPicPr>
            <a:picLocks noChangeAspect="1"/>
          </p:cNvPicPr>
          <p:nvPr/>
        </p:nvPicPr>
        <p:blipFill>
          <a:blip r:embed="rId4"/>
          <a:srcRect l="1851" r="1851"/>
          <a:stretch>
            <a:fillRect/>
          </a:stretch>
        </p:blipFill>
        <p:spPr>
          <a:xfrm>
            <a:off x="7664450" y="3807460"/>
            <a:ext cx="3474720" cy="22637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19955" y="1257300"/>
            <a:ext cx="6373495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国标级SRS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19955" y="1791335"/>
            <a:ext cx="6382385" cy="6338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文档严格遵循GB/T 9385-2008，含引言、总体描述、功能需求、非功能需求、验收准则与逆向追踪表，可直接用于第三方验收。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71245" y="3690620"/>
            <a:ext cx="6373495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支撑模型齐全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071245" y="4224655"/>
            <a:ext cx="6382385" cy="6338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随文交付数据字典、ER图、状态转换图、用例图、原型交互稿，形成需求-设计-测试全链路追溯，降低后期变更成本。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2193200" cy="6861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1882140"/>
            <a:ext cx="12161520" cy="3093720"/>
          </a:xfrm>
          <a:prstGeom prst="rect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445" y="1882140"/>
            <a:ext cx="12161520" cy="3093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6" name="Image 0" descr="https://kimi-img.moonshot.cn/pub/slides/slides_tmpl/image/25-09-05-12:33:05-d2t6g0dnfo2stf9die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410335"/>
            <a:ext cx="4041775" cy="40417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5835" y="195961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5835" y="3345815"/>
            <a:ext cx="4779645" cy="14370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项目执行与团队情况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221220" y="1875155"/>
            <a:ext cx="3108325" cy="3108325"/>
          </a:xfrm>
          <a:prstGeom prst="ellipse">
            <a:avLst/>
          </a:prstGeom>
          <a:solidFill>
            <a:srgbClr val="000000">
              <a:alpha val="25882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7221220" y="1875155"/>
            <a:ext cx="3108325" cy="31083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33:07-d2t6g0tnfo2stf9dif0g.jpg"/>
          <p:cNvPicPr>
            <a:picLocks noChangeAspect="1"/>
          </p:cNvPicPr>
          <p:nvPr/>
        </p:nvPicPr>
        <p:blipFill>
          <a:blip r:embed="rId3"/>
          <a:srcRect t="9125" b="9125"/>
          <a:stretch>
            <a:fillRect/>
          </a:stretch>
        </p:blipFill>
        <p:spPr>
          <a:xfrm>
            <a:off x="-10160" y="1654175"/>
            <a:ext cx="12192000" cy="1860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96561" y="2473621"/>
            <a:ext cx="1459038" cy="14590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36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196561" y="2473621"/>
            <a:ext cx="1459038" cy="14590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388111" y="2665171"/>
            <a:ext cx="1075939" cy="1075939"/>
          </a:xfrm>
          <a:prstGeom prst="ellipse">
            <a:avLst/>
          </a:prstGeom>
          <a:solidFill>
            <a:srgbClr val="3E4048"/>
          </a:solidFill>
        </p:spPr>
      </p:sp>
      <p:sp>
        <p:nvSpPr>
          <p:cNvPr id="6" name="Text 3"/>
          <p:cNvSpPr/>
          <p:nvPr/>
        </p:nvSpPr>
        <p:spPr>
          <a:xfrm>
            <a:off x="2388111" y="2665171"/>
            <a:ext cx="1075939" cy="107593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66481" y="2473621"/>
            <a:ext cx="1459038" cy="14590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66481" y="2473621"/>
            <a:ext cx="1459038" cy="14590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58031" y="2665171"/>
            <a:ext cx="1075939" cy="1075939"/>
          </a:xfrm>
          <a:prstGeom prst="ellipse">
            <a:avLst/>
          </a:prstGeom>
          <a:solidFill>
            <a:srgbClr val="636563"/>
          </a:solidFill>
        </p:spPr>
      </p:sp>
      <p:sp>
        <p:nvSpPr>
          <p:cNvPr id="10" name="Text 7"/>
          <p:cNvSpPr/>
          <p:nvPr/>
        </p:nvSpPr>
        <p:spPr>
          <a:xfrm>
            <a:off x="5558031" y="2665171"/>
            <a:ext cx="1075939" cy="107593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536401" y="2473621"/>
            <a:ext cx="1459038" cy="14590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36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36401" y="2473621"/>
            <a:ext cx="1459038" cy="14590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727951" y="2665171"/>
            <a:ext cx="1075939" cy="1075939"/>
          </a:xfrm>
          <a:prstGeom prst="ellipse">
            <a:avLst/>
          </a:prstGeom>
          <a:solidFill>
            <a:srgbClr val="3E4048"/>
          </a:solidFill>
        </p:spPr>
      </p:sp>
      <p:sp>
        <p:nvSpPr>
          <p:cNvPr id="14" name="Text 11"/>
          <p:cNvSpPr/>
          <p:nvPr/>
        </p:nvSpPr>
        <p:spPr>
          <a:xfrm>
            <a:off x="8727951" y="2665171"/>
            <a:ext cx="1075939" cy="107593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2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6" name="Text 13"/>
          <p:cNvSpPr/>
          <p:nvPr/>
        </p:nvSpPr>
        <p:spPr>
          <a:xfrm>
            <a:off x="422910" y="6374130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9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9910" y="6374130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20" name="Text 17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22" name="Text 19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23645" y="41021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进度与里程碑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552868" y="2907327"/>
            <a:ext cx="726482" cy="584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5" name="Text 22"/>
          <p:cNvSpPr/>
          <p:nvPr/>
        </p:nvSpPr>
        <p:spPr>
          <a:xfrm>
            <a:off x="2552868" y="2907327"/>
            <a:ext cx="726482" cy="58477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76045" y="4112895"/>
            <a:ext cx="3100705" cy="245467"/>
          </a:xfrm>
          <a:prstGeom prst="rect">
            <a:avLst/>
          </a:prstGeom>
          <a:noFill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需求阶段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376045" y="4501515"/>
            <a:ext cx="2872740" cy="8576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10月25日启动，10月31日按期冻结需求，内部评审一次性通过，无重大变更，为开发抢出两个月窗口。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722788" y="2907327"/>
            <a:ext cx="726482" cy="584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9" name="Text 26"/>
          <p:cNvSpPr/>
          <p:nvPr/>
        </p:nvSpPr>
        <p:spPr>
          <a:xfrm>
            <a:off x="5722788" y="2907327"/>
            <a:ext cx="726482" cy="58477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784725" y="4112895"/>
            <a:ext cx="3100705" cy="245467"/>
          </a:xfrm>
          <a:prstGeom prst="rect">
            <a:avLst/>
          </a:prstGeom>
          <a:noFill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开发里程碑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784725" y="4501515"/>
            <a:ext cx="2872740" cy="8576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11月15日完成技术选型与架构评审，12月15日联调结束，12月31日V1.0上线，节奏紧凑但留有一周缓冲。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912650" y="2907327"/>
            <a:ext cx="726482" cy="584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3" name="Text 30"/>
          <p:cNvSpPr/>
          <p:nvPr/>
        </p:nvSpPr>
        <p:spPr>
          <a:xfrm>
            <a:off x="8912650" y="2907327"/>
            <a:ext cx="726482" cy="58477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29600" y="4112895"/>
            <a:ext cx="3100705" cy="245467"/>
          </a:xfrm>
          <a:prstGeom prst="rect">
            <a:avLst/>
          </a:prstGeom>
          <a:noFill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风险预案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229600" y="4501515"/>
            <a:ext cx="2872740" cy="8576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若12月疫情封校，将启用远程配送员白名单+无接触货架方案，确保业务不中断，已获后勤处支持。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33:07-d2t6g0tnfo2stf9dieug.jpg"/>
          <p:cNvPicPr>
            <a:picLocks noChangeAspect="1"/>
          </p:cNvPicPr>
          <p:nvPr/>
        </p:nvPicPr>
        <p:blipFill>
          <a:blip r:embed="rId3"/>
          <a:srcRect l="30" r="30"/>
          <a:stretch>
            <a:fillRect/>
          </a:stretch>
        </p:blipFill>
        <p:spPr>
          <a:xfrm>
            <a:off x="6964680" y="-17780"/>
            <a:ext cx="5227320" cy="6863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4" name="Text 1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6" name="Text 3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0930" y="40894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分工协作与版本管理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23645" y="2793365"/>
            <a:ext cx="483806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23645" y="2183765"/>
            <a:ext cx="483235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高效协作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23645" y="2971800"/>
            <a:ext cx="4838700" cy="14265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陈鹏宇任需求Owner，其余三人分模块原型与用例；每周例会+看板，Gitee MR评审平均响应2小时，文档与代码双版本号同步，确保需求变更可追溯。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2193200" cy="6861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1882140"/>
            <a:ext cx="12161520" cy="3093720"/>
          </a:xfrm>
          <a:prstGeom prst="rect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445" y="1882140"/>
            <a:ext cx="12161520" cy="3093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6" name="Image 0" descr="https://kimi-img.moonshot.cn/pub/slides/slides_tmpl/image/25-09-05-12:33:05-d2t6g0dnfo2stf9die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410335"/>
            <a:ext cx="4041775" cy="40417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5835" y="195961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5835" y="3345815"/>
            <a:ext cx="4779645" cy="683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总结与后续计划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221220" y="1875155"/>
            <a:ext cx="3108325" cy="3108325"/>
          </a:xfrm>
          <a:prstGeom prst="ellipse">
            <a:avLst/>
          </a:prstGeom>
          <a:solidFill>
            <a:srgbClr val="000000">
              <a:alpha val="25882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7221220" y="1875155"/>
            <a:ext cx="3108325" cy="31083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3" name="Text 1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0930" y="40894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需求阶段成果回顾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60780" y="1504315"/>
            <a:ext cx="3567430" cy="502920"/>
          </a:xfrm>
          <a:prstGeom prst="round1Rect">
            <a:avLst/>
          </a:prstGeom>
          <a:solidFill>
            <a:srgbClr val="535560"/>
          </a:solidFill>
        </p:spPr>
      </p:sp>
      <p:sp>
        <p:nvSpPr>
          <p:cNvPr id="12" name="Text 10"/>
          <p:cNvSpPr/>
          <p:nvPr/>
        </p:nvSpPr>
        <p:spPr>
          <a:xfrm>
            <a:off x="1160780" y="1504315"/>
            <a:ext cx="356743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65860" y="2012315"/>
            <a:ext cx="6247765" cy="149352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19050">
            <a:solidFill>
              <a:srgbClr val="535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5860" y="2012315"/>
            <a:ext cx="6247765" cy="14935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60780" y="3825875"/>
            <a:ext cx="3567430" cy="502920"/>
          </a:xfrm>
          <a:prstGeom prst="round1Rect">
            <a:avLst/>
          </a:prstGeom>
          <a:solidFill>
            <a:srgbClr val="535560"/>
          </a:solidFill>
        </p:spPr>
      </p:sp>
      <p:sp>
        <p:nvSpPr>
          <p:cNvPr id="16" name="Text 14"/>
          <p:cNvSpPr/>
          <p:nvPr/>
        </p:nvSpPr>
        <p:spPr>
          <a:xfrm>
            <a:off x="1160780" y="3825875"/>
            <a:ext cx="356743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65860" y="4333875"/>
            <a:ext cx="6247765" cy="149352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19050">
            <a:solidFill>
              <a:srgbClr val="535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5860" y="4333875"/>
            <a:ext cx="6247765" cy="14935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9" name="Image 0" descr="https://kimi-img.moonshot.cn/pub/slides/slides_tmpl/image/25-09-05-12:33:08-d2t6g15nfo2stf9dif4g.png"/>
          <p:cNvPicPr>
            <a:picLocks noChangeAspect="1"/>
          </p:cNvPicPr>
          <p:nvPr/>
        </p:nvPicPr>
        <p:blipFill>
          <a:blip r:embed="rId3"/>
          <a:srcRect l="71" r="71"/>
          <a:stretch>
            <a:fillRect/>
          </a:stretch>
        </p:blipFill>
        <p:spPr>
          <a:xfrm>
            <a:off x="7760970" y="930910"/>
            <a:ext cx="4029710" cy="5082540"/>
          </a:xfrm>
          <a:prstGeom prst="round2DiagRect">
            <a:avLst>
              <a:gd name="adj1" fmla="val 16667"/>
              <a:gd name="adj2" fmla="val 0"/>
            </a:avLst>
          </a:prstGeom>
        </p:spPr>
      </p:pic>
      <p:sp>
        <p:nvSpPr>
          <p:cNvPr id="20" name="Text 17"/>
          <p:cNvSpPr/>
          <p:nvPr/>
        </p:nvSpPr>
        <p:spPr>
          <a:xfrm>
            <a:off x="1217388" y="1574165"/>
            <a:ext cx="339074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成果清单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23645" y="2133600"/>
            <a:ext cx="6164580" cy="5716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锁定核心功能边界，输出国标SRS与全套支撑模型，原型通过40人可用性测试，需求基线已冻结并获指导老师签字确认。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17388" y="3895725"/>
            <a:ext cx="339074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质量指标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23645" y="4455160"/>
            <a:ext cx="6164580" cy="5716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需求缺陷密度0.15个/页，低于行业平均0.4；功能点估算偏差&lt;5%，为后续开发估算提供高置信度输入。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471545" y="1610995"/>
            <a:ext cx="7499350" cy="4164330"/>
          </a:xfrm>
          <a:prstGeom prst="roundRect">
            <a:avLst>
              <a:gd name="adj" fmla="val 50000"/>
            </a:avLst>
          </a:prstGeom>
          <a:solidFill>
            <a:srgbClr val="808080">
              <a:alpha val="23137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-3471545" y="1610995"/>
            <a:ext cx="7499350" cy="41643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5-12:33:09-d2t6g1dnfo2stf9dif7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4345" y="1769745"/>
            <a:ext cx="4314825" cy="38468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-3773170" y="1443355"/>
            <a:ext cx="8102600" cy="449961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535560"/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1"/>
            </a:gra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-3773170" y="1443355"/>
            <a:ext cx="8102600" cy="44996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808605" y="1239520"/>
            <a:ext cx="652145" cy="663575"/>
          </a:xfrm>
          <a:prstGeom prst="ellipse">
            <a:avLst/>
          </a:prstGeom>
          <a:solidFill>
            <a:srgbClr val="3E4048"/>
          </a:solidFill>
        </p:spPr>
      </p:sp>
      <p:sp>
        <p:nvSpPr>
          <p:cNvPr id="8" name="Text 5"/>
          <p:cNvSpPr/>
          <p:nvPr/>
        </p:nvSpPr>
        <p:spPr>
          <a:xfrm>
            <a:off x="2808605" y="1239520"/>
            <a:ext cx="652145" cy="6635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10025" y="3220720"/>
            <a:ext cx="652145" cy="663575"/>
          </a:xfrm>
          <a:prstGeom prst="ellipse">
            <a:avLst/>
          </a:prstGeom>
          <a:solidFill>
            <a:srgbClr val="3E4048"/>
          </a:solidFill>
        </p:spPr>
      </p:sp>
      <p:sp>
        <p:nvSpPr>
          <p:cNvPr id="10" name="Text 7"/>
          <p:cNvSpPr/>
          <p:nvPr/>
        </p:nvSpPr>
        <p:spPr>
          <a:xfrm>
            <a:off x="4010025" y="3220720"/>
            <a:ext cx="652145" cy="6635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161030" y="5215890"/>
            <a:ext cx="652145" cy="663575"/>
          </a:xfrm>
          <a:prstGeom prst="ellipse">
            <a:avLst/>
          </a:prstGeom>
          <a:solidFill>
            <a:srgbClr val="3E4048"/>
          </a:solidFill>
        </p:spPr>
      </p:sp>
      <p:sp>
        <p:nvSpPr>
          <p:cNvPr id="12" name="Text 9"/>
          <p:cNvSpPr/>
          <p:nvPr/>
        </p:nvSpPr>
        <p:spPr>
          <a:xfrm>
            <a:off x="3161030" y="5215890"/>
            <a:ext cx="652145" cy="6635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14" name="Text 11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16" name="Text 13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23645" y="41021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后续三步走计划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846705" y="1313815"/>
            <a:ext cx="591820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210685" y="1246505"/>
            <a:ext cx="683895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原型优化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210685" y="1703070"/>
            <a:ext cx="6838950" cy="5716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两周内完成预计送达算法、退款入口、金额拆分等6项高优改动，再测一轮SUS目标≥80分。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027170" y="3285490"/>
            <a:ext cx="642620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834255" y="3220720"/>
            <a:ext cx="683895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需求移交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834255" y="3625215"/>
            <a:ext cx="6838950" cy="5716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11月10日召开开发移交评审，使用Jira建立需求-任务双向追溯，确保每个功能点有测试用例覆盖。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167380" y="5291455"/>
            <a:ext cx="66738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135755" y="5147945"/>
            <a:ext cx="683895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二期储备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027170" y="5546725"/>
            <a:ext cx="6839585" cy="5716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同步梳理公众号裂变、拼团、非零食类目需求池，优先级与ROI评估入库，为明年Q2融资演示提供 roadmap。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2193200" cy="6861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1882140"/>
            <a:ext cx="12161520" cy="3093720"/>
          </a:xfrm>
          <a:prstGeom prst="rect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445" y="1882140"/>
            <a:ext cx="12161520" cy="3093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6" name="Image 0" descr="https://kimi-img.moonshot.cn/pub/slides/slides_tmpl/image/25-09-05-12:33:05-d2t6g0dnfo2stf9die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1410335"/>
            <a:ext cx="4041775" cy="40417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5835" y="195961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5835" y="3345815"/>
            <a:ext cx="4779645" cy="683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参考材料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221220" y="1875155"/>
            <a:ext cx="3108325" cy="3108325"/>
          </a:xfrm>
          <a:prstGeom prst="ellipse">
            <a:avLst/>
          </a:prstGeom>
          <a:solidFill>
            <a:srgbClr val="000000">
              <a:alpha val="25882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7221220" y="1875155"/>
            <a:ext cx="3108325" cy="31083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3" name="Text 1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0930" y="408940"/>
            <a:ext cx="107829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规范与引用清单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0" descr="https://kimi-img.moonshot.cn/pub/slides/slides_tmpl/image/25-09-05-12:33:08-d2t6g15nfo2stf9dif30.jpg"/>
          <p:cNvPicPr>
            <a:picLocks noChangeAspect="1"/>
          </p:cNvPicPr>
          <p:nvPr/>
        </p:nvPicPr>
        <p:blipFill>
          <a:blip r:embed="rId3"/>
          <a:srcRect t="6690" b="6690"/>
          <a:stretch>
            <a:fillRect/>
          </a:stretch>
        </p:blipFill>
        <p:spPr>
          <a:xfrm>
            <a:off x="6096000" y="1709420"/>
            <a:ext cx="4475480" cy="35877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61415" y="1903095"/>
            <a:ext cx="485457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引用标准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84275" y="2656205"/>
            <a:ext cx="4364355" cy="15847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GB/T 9385-2008 SRS规范、GB/T 8567-2006文档编制规范、微信小程序平台运营规范、Vue3与Taro3官方指南、MySQL8.0手册，共7份核心参考文献，确保需求、设计、编码、测试全程合规。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F93E5A-9D79-91B5-03A0-26850CC43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30D197-C19A-3339-29BF-AEC6F679698B}"/>
              </a:ext>
            </a:extLst>
          </p:cNvPr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535560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8663DE-5B8E-ACE9-153F-64DAEFAA518F}"/>
              </a:ext>
            </a:extLst>
          </p:cNvPr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FAD8A2E-4351-5BBA-AB5B-3F287DE88833}"/>
              </a:ext>
            </a:extLst>
          </p:cNvPr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FFFFFF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627AF8-9C07-F5D6-DD78-2F1890C55938}"/>
              </a:ext>
            </a:extLst>
          </p:cNvPr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7242CC-FEC9-2AA6-9A98-51C21311DAC0}"/>
              </a:ext>
            </a:extLst>
          </p:cNvPr>
          <p:cNvSpPr/>
          <p:nvPr/>
        </p:nvSpPr>
        <p:spPr>
          <a:xfrm>
            <a:off x="1090930" y="408940"/>
            <a:ext cx="1078293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小组评分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CB81254-BFFF-04EA-BEDE-B0416F1BFC07}"/>
              </a:ext>
            </a:extLst>
          </p:cNvPr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BC2ED14-4537-94FF-45AE-9D8221C940FD}"/>
              </a:ext>
            </a:extLst>
          </p:cNvPr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8F28E67-FF5B-131E-4D30-15A4B8A7A0BA}"/>
              </a:ext>
            </a:extLst>
          </p:cNvPr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1A6662F-4CE2-77E4-A487-E21A89FE403E}"/>
              </a:ext>
            </a:extLst>
          </p:cNvPr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0" descr="https://kimi-img.moonshot.cn/pub/slides/slides_tmpl/image/25-09-05-12:33:08-d2t6g15nfo2stf9dif30.jpg">
            <a:extLst>
              <a:ext uri="{FF2B5EF4-FFF2-40B4-BE49-F238E27FC236}">
                <a16:creationId xmlns:a16="http://schemas.microsoft.com/office/drawing/2014/main" id="{DD00AB9E-E1C4-27DF-DF46-2E69195B3E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90" b="6690"/>
          <a:stretch>
            <a:fillRect/>
          </a:stretch>
        </p:blipFill>
        <p:spPr>
          <a:xfrm>
            <a:off x="6096000" y="1709420"/>
            <a:ext cx="4475480" cy="358775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EDB2040-FC86-51DB-B630-B8C1B45F4B05}"/>
              </a:ext>
            </a:extLst>
          </p:cNvPr>
          <p:cNvSpPr txBox="1"/>
          <p:nvPr/>
        </p:nvSpPr>
        <p:spPr>
          <a:xfrm>
            <a:off x="1150951" y="1136124"/>
            <a:ext cx="47330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杨俊杰：</a:t>
            </a:r>
            <a:r>
              <a:rPr lang="en-US" altLang="zh-CN" dirty="0">
                <a:solidFill>
                  <a:schemeClr val="bg1"/>
                </a:solidFill>
              </a:rPr>
              <a:t>project</a:t>
            </a:r>
            <a:r>
              <a:rPr lang="zh-CN" altLang="en-US" dirty="0">
                <a:solidFill>
                  <a:schemeClr val="bg1"/>
                </a:solidFill>
              </a:rPr>
              <a:t>更新，</a:t>
            </a:r>
            <a:r>
              <a:rPr lang="en-US" altLang="zh-CN" dirty="0">
                <a:solidFill>
                  <a:schemeClr val="bg1"/>
                </a:solidFill>
              </a:rPr>
              <a:t>PPT</a:t>
            </a:r>
            <a:r>
              <a:rPr lang="zh-CN" altLang="en-US" dirty="0">
                <a:solidFill>
                  <a:schemeClr val="bg1"/>
                </a:solidFill>
              </a:rPr>
              <a:t>修改，</a:t>
            </a:r>
            <a:r>
              <a:rPr lang="en-US" altLang="zh-CN" dirty="0">
                <a:solidFill>
                  <a:schemeClr val="bg1"/>
                </a:solidFill>
              </a:rPr>
              <a:t>SRS</a:t>
            </a:r>
            <a:r>
              <a:rPr lang="zh-CN" altLang="en-US" dirty="0">
                <a:solidFill>
                  <a:schemeClr val="bg1"/>
                </a:solidFill>
              </a:rPr>
              <a:t>数据字典制作（</a:t>
            </a:r>
            <a:r>
              <a:rPr lang="en-US" altLang="zh-CN" dirty="0">
                <a:solidFill>
                  <a:schemeClr val="bg1"/>
                </a:solidFill>
              </a:rPr>
              <a:t>84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陈鹏宇：</a:t>
            </a:r>
            <a:r>
              <a:rPr lang="en-US" altLang="zh-CN" dirty="0">
                <a:solidFill>
                  <a:schemeClr val="bg1"/>
                </a:solidFill>
              </a:rPr>
              <a:t>SRS</a:t>
            </a:r>
            <a:r>
              <a:rPr lang="zh-CN" altLang="en-US" dirty="0">
                <a:solidFill>
                  <a:schemeClr val="bg1"/>
                </a:solidFill>
              </a:rPr>
              <a:t>总体描述以及具体需求制作与文本内容填充（</a:t>
            </a:r>
            <a:r>
              <a:rPr lang="en-US" altLang="zh-CN" dirty="0">
                <a:solidFill>
                  <a:schemeClr val="bg1"/>
                </a:solidFill>
              </a:rPr>
              <a:t>89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王杰铭：</a:t>
            </a:r>
            <a:r>
              <a:rPr lang="en-US" altLang="zh-CN" dirty="0" err="1">
                <a:solidFill>
                  <a:schemeClr val="bg1"/>
                </a:solidFill>
              </a:rPr>
              <a:t>github</a:t>
            </a:r>
            <a:r>
              <a:rPr lang="zh-CN" altLang="en-US" dirty="0">
                <a:solidFill>
                  <a:schemeClr val="bg1"/>
                </a:solidFill>
              </a:rPr>
              <a:t>更新，</a:t>
            </a:r>
            <a:r>
              <a:rPr lang="en-US" altLang="zh-CN" dirty="0">
                <a:solidFill>
                  <a:schemeClr val="bg1"/>
                </a:solidFill>
              </a:rPr>
              <a:t>er</a:t>
            </a:r>
            <a:r>
              <a:rPr lang="zh-CN" altLang="en-US" dirty="0">
                <a:solidFill>
                  <a:schemeClr val="bg1"/>
                </a:solidFill>
              </a:rPr>
              <a:t>图制作，用户界面原型制作（</a:t>
            </a:r>
            <a:r>
              <a:rPr lang="en-US" altLang="zh-CN">
                <a:solidFill>
                  <a:schemeClr val="bg1"/>
                </a:solidFill>
              </a:rPr>
              <a:t>90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潘攀兆：会议总结（</a:t>
            </a:r>
            <a:r>
              <a:rPr lang="en-US" altLang="zh-CN" dirty="0">
                <a:solidFill>
                  <a:schemeClr val="bg1"/>
                </a:solidFill>
              </a:rPr>
              <a:t>70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523229919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33:10-d2t6g1lnfo2stf9difa0.png"/>
          <p:cNvPicPr>
            <a:picLocks noChangeAspect="1"/>
          </p:cNvPicPr>
          <p:nvPr/>
        </p:nvPicPr>
        <p:blipFill>
          <a:blip r:embed="rId3"/>
          <a:srcRect l="21" r="21"/>
          <a:stretch>
            <a:fillRect/>
          </a:stretch>
        </p:blipFill>
        <p:spPr>
          <a:xfrm>
            <a:off x="0" y="0"/>
            <a:ext cx="121989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2525" y="4292600"/>
            <a:ext cx="2078990" cy="4152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1152525" y="4292600"/>
            <a:ext cx="2078990" cy="4152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32535" y="4340518"/>
            <a:ext cx="1918970" cy="245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汇报人:陈鹏宇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52525" y="4932680"/>
            <a:ext cx="2078990" cy="4152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>
            <a:off x="1152525" y="4932680"/>
            <a:ext cx="2078990" cy="4152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07135" y="4980598"/>
            <a:ext cx="1918970" cy="245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时间:2025/11/05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41400" y="1797050"/>
            <a:ext cx="5344795" cy="14815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感谢观看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41400" y="3286760"/>
            <a:ext cx="503174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watching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FFFFFF"/>
      </a:accent1>
      <a:accent2>
        <a:srgbClr val="C8C9C8"/>
      </a:accent2>
      <a:accent3>
        <a:srgbClr val="535560"/>
      </a:accent3>
      <a:accent4>
        <a:srgbClr val="FFCE06"/>
      </a:accent4>
      <a:accent5>
        <a:srgbClr val="65A7E4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FFFFFF"/>
      </a:accent1>
      <a:accent2>
        <a:srgbClr val="C8C9C8"/>
      </a:accent2>
      <a:accent3>
        <a:srgbClr val="535560"/>
      </a:accent3>
      <a:accent4>
        <a:srgbClr val="FFCE06"/>
      </a:accent4>
      <a:accent5>
        <a:srgbClr val="65A7E4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709</Words>
  <Application>Microsoft Office PowerPoint</Application>
  <PresentationFormat>宽屏</PresentationFormat>
  <Paragraphs>170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4" baseType="lpstr">
      <vt:lpstr>Calibri</vt:lpstr>
      <vt:lpstr>MiSans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城小二微信小程序需求阶段评审报告</dc:title>
  <dc:subject>城小二微信小程序需求阶段评审报告</dc:subject>
  <dc:creator>Kimi</dc:creator>
  <cp:lastModifiedBy>wddz_2023@qq.com</cp:lastModifiedBy>
  <cp:revision>4</cp:revision>
  <dcterms:created xsi:type="dcterms:W3CDTF">2025-11-02T12:07:00Z</dcterms:created>
  <dcterms:modified xsi:type="dcterms:W3CDTF">2025-11-09T12:21:16Z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{"Label":"城小二微信小程序需求阶段评审报告","ContentProducer":"001191110108MACG2KBH8F10000","ProduceID":"d43k7oam52tecsqta2g0","ReservedCode1":"","ContentPropagator":"001191110108MACG2KBH8F20000","PropagateID":"d43k7oam52tecsqta2g0","ReservedCode2":""}</vt:lpwstr>
  </property>
  <property fmtid="{D5CDD505-2E9C-101B-9397-08002B2CF9AE}" pid="3" name="ICV">
    <vt:lpwstr>35339B98DF94421A8013B78150BF8657_12</vt:lpwstr>
  </property>
  <property fmtid="{D5CDD505-2E9C-101B-9397-08002B2CF9AE}" pid="4" name="KSOProductBuildVer">
    <vt:lpwstr>2052-12.1.0.23125</vt:lpwstr>
  </property>
</Properties>
</file>